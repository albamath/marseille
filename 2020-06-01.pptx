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ath.u-psud.fr/~pmassot/enseignement/math114/" TargetMode="External" />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3040/programme-ressources-et-evaluation.html" TargetMode="External" /><Relationship Id="rId3" Type="http://schemas.openxmlformats.org/officeDocument/2006/relationships/hyperlink" Target="https://eduscol.education.fr/pid34139/cycle-2-ecole-elementaire.html" TargetMode="External" /><Relationship Id="rId4" Type="http://schemas.openxmlformats.org/officeDocument/2006/relationships/hyperlink" Target="https://eduscol.education.fr/pid34150/cycle-3-ecole-elementaire-college.html" TargetMode="External" />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4150/cycle-3-ecole-elementaire-college.html" TargetMode="External" /><Relationship Id="rId3" Type="http://schemas.openxmlformats.org/officeDocument/2006/relationships/hyperlink" Target="https://eduscol.education.fr/pid34185/cycle-4-college.html" TargetMode="External" /><Relationship Id="rId4" Type="http://schemas.openxmlformats.org/officeDocument/2006/relationships/hyperlink" Target="https://eduscol.education.fr/pid38708/lycee-general-et-technologique-bac-2021.html" TargetMode="External" />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Audition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un</a:t>
            </a:r>
            <a:r>
              <a:rPr/>
              <a:t> </a:t>
            </a:r>
            <a:r>
              <a:rPr/>
              <a:t>poste</a:t>
            </a:r>
            <a:r>
              <a:rPr/>
              <a:t> </a:t>
            </a:r>
            <a:r>
              <a:rPr/>
              <a:t>en</a:t>
            </a:r>
            <a:r>
              <a:rPr/>
              <a:t> </a:t>
            </a:r>
            <a:r>
              <a:rPr/>
              <a:t>didactique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br/>
            <a:br/>
            <a:r>
              <a:rPr/>
              <a:t>Alba</a:t>
            </a:r>
            <a:r>
              <a:rPr/>
              <a:t> </a:t>
            </a:r>
            <a:r>
              <a:rPr/>
              <a:t>Marina</a:t>
            </a:r>
            <a:r>
              <a:rPr/>
              <a:t> </a:t>
            </a:r>
            <a:r>
              <a:rPr/>
              <a:t>MÁLAGA</a:t>
            </a:r>
            <a:r>
              <a:rPr/>
              <a:t> </a:t>
            </a:r>
            <a:r>
              <a:rPr/>
              <a:t>SABOGAL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2020-06-02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l’ADEF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EAST: Rôle des artefacts dans l’efficacité de l’éducation scientifique et technologique</a:t>
            </a:r>
          </a:p>
          <a:p>
            <a:pPr lvl="0" marL="0" indent="0">
              <a:buNone/>
            </a:pPr>
            <a:r>
              <a:rPr/>
              <a:t>Axe thématique «outils et instruments pour l’enseignement».</a:t>
            </a:r>
          </a:p>
          <a:p>
            <a:pPr lvl="0" marL="0" indent="0">
              <a:buNone/>
            </a:pPr>
            <a:r>
              <a:rPr/>
              <a:t>Quelques projets de recherche: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Yupana inca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Expérience d’initiation à l’addition et à la multiplication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Vecteur de compréhension de la géométrie.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dodecaedre-et-tore-avec-patr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600200"/>
            <a:ext cx="7556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Diverses techniques de représentation de polyèdres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Le raisonnement mathématique avec 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 b="1"/>
                  <a:t>N</a:t>
                </a:r>
              </a:p>
              <a:p>
                <a:pPr lvl="0" marL="0" indent="0">
                  <a:buNone/>
                </a:pPr>
                <a:r>
                  <a:rPr/>
                  <a:t>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/>
                  <a:t>N: un assistant de preuves (LEAN)</a:t>
                </a:r>
              </a:p>
              <a:p>
                <a:pPr lvl="0" marL="0" indent="0">
                  <a:buNone/>
                </a:pPr>
                <a:r>
                  <a:rPr/>
                  <a:t>Utilisé en L1 math-info</a:t>
                </a:r>
                <a:br/>
                <a:r>
                  <a:rPr>
                    <a:hlinkClick r:id="rId2"/>
                  </a:rPr>
                  <a:t>cours «Introduction aux mathématiques formalisées»</a:t>
                </a:r>
                <a:br/>
                <a:r>
                  <a:rPr/>
                  <a:t>par Patrick Massot,</a:t>
                </a:r>
                <a:br/>
                <a:r>
                  <a:rPr/>
                  <a:t>prof d’université en mathématiques à Orsay</a:t>
                </a:r>
              </a:p>
              <a:p>
                <a:pPr lvl="0" marL="0" indent="0">
                  <a:buNone/>
                </a:pPr>
              </a:p>
              <a:p>
                <a:pPr lvl="0" marL="0" indent="0">
                  <a:buNone/>
                </a:pPr>
                <a:r>
                  <a:rPr/>
                  <a:t>Exemple de démonstration rédigée sur papier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Mes compétences et les thématiques de l’ADEF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l’Inspé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Motivée par les questions éducatives</a:t>
            </a:r>
          </a:p>
          <a:p>
            <a:pPr lvl="1"/>
            <a:r>
              <a:rPr/>
              <a:t>suivi deux MOOC sur l’éducation en 2016</a:t>
            </a:r>
          </a:p>
          <a:p>
            <a:pPr lvl="2"/>
            <a:r>
              <a:rPr/>
              <a:t>eFan Maths session 2 (ESPÉ de Lyon et autres partenaires)</a:t>
            </a:r>
          </a:p>
          <a:p>
            <a:pPr lvl="3"/>
            <a:r>
              <a:rPr/>
              <a:t>projet «Objets mathématiques imprimés en 3D»</a:t>
            </a:r>
          </a:p>
          <a:p>
            <a:pPr lvl="2"/>
            <a:r>
              <a:rPr/>
              <a:t>Design and Development of Educational Technology (MIT)</a:t>
            </a:r>
          </a:p>
          <a:p>
            <a:pPr lvl="3"/>
            <a:r>
              <a:rPr/>
              <a:t>projet «Plagiarism prevention»</a:t>
            </a:r>
          </a:p>
          <a:p>
            <a:pPr lvl="0" marL="0" indent="0">
              <a:buNone/>
            </a:pPr>
          </a:p>
          <a:p>
            <a:pPr lvl="1"/>
            <a:r>
              <a:rPr/>
              <a:t>interactions avec des enseignants:</a:t>
            </a:r>
          </a:p>
          <a:p>
            <a:pPr lvl="2"/>
            <a:r>
              <a:rPr/>
              <a:t>salons et festivals</a:t>
            </a:r>
          </a:p>
          <a:p>
            <a:pPr lvl="2"/>
            <a:r>
              <a:rPr/>
              <a:t>fêtes de la science</a:t>
            </a:r>
          </a:p>
          <a:p>
            <a:pPr lvl="2"/>
            <a:r>
              <a:rPr/>
              <a:t>visites en classes</a:t>
            </a:r>
          </a:p>
          <a:p>
            <a:pPr lvl="2"/>
            <a:r>
              <a:rPr/>
              <a:t>et aussi dans les MOOC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des écoles</a:t>
            </a:r>
          </a:p>
          <a:p>
            <a:pPr lvl="0" marL="0" indent="0">
              <a:buNone/>
            </a:pPr>
            <a:r>
              <a:rPr/>
              <a:t>Trois étapes:</a:t>
            </a:r>
          </a:p>
          <a:p>
            <a:pPr lvl="1"/>
            <a:r>
              <a:rPr>
                <a:hlinkClick r:id="rId2"/>
              </a:rPr>
              <a:t>cycle 1</a:t>
            </a:r>
            <a:r>
              <a:rPr/>
              <a:t> – apprentissages premiers</a:t>
            </a:r>
          </a:p>
          <a:p>
            <a:pPr lvl="1"/>
            <a:r>
              <a:rPr>
                <a:hlinkClick r:id="rId3"/>
              </a:rPr>
              <a:t>cycle 2</a:t>
            </a:r>
            <a:r>
              <a:rPr/>
              <a:t> – apprentissages fondamentaux</a:t>
            </a:r>
          </a:p>
          <a:p>
            <a:pPr lvl="1"/>
            <a:r>
              <a:rPr>
                <a:hlinkClick r:id="rId4"/>
              </a:rPr>
              <a:t>cycle 3</a:t>
            </a:r>
            <a:r>
              <a:rPr/>
              <a:t> – consolidation, lien avec le collège</a:t>
            </a:r>
          </a:p>
          <a:p>
            <a:pPr lvl="0" marL="0" indent="0">
              <a:buNone/>
            </a:pPr>
            <a:r>
              <a:rPr/>
              <a:t>Formation professionnalisante donc équilibre entre: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</a:t>
            </a:r>
          </a:p>
          <a:p>
            <a:pPr lvl="0" marL="0" indent="0">
              <a:buNone/>
            </a:pPr>
            <a:r>
              <a:rPr/>
              <a:t>Formation interdisciplinaire donc équilibre entre: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ancrées dans le monde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certifiés</a:t>
            </a:r>
          </a:p>
          <a:p>
            <a:pPr lvl="0" marL="0" indent="0">
              <a:buNone/>
            </a:pPr>
            <a:r>
              <a:rPr/>
              <a:t>Collège:</a:t>
            </a:r>
          </a:p>
          <a:p>
            <a:pPr lvl="1"/>
            <a:r>
              <a:rPr>
                <a:hlinkClick r:id="rId2"/>
              </a:rPr>
              <a:t>cycle 3</a:t>
            </a:r>
            <a:r>
              <a:rPr/>
              <a:t> – consolidation, lien avec le primaire</a:t>
            </a:r>
          </a:p>
          <a:p>
            <a:pPr lvl="1"/>
            <a:r>
              <a:rPr>
                <a:hlinkClick r:id="rId3"/>
              </a:rPr>
              <a:t>cycle 4</a:t>
            </a:r>
            <a:r>
              <a:rPr/>
              <a:t> – approfondissements</a:t>
            </a:r>
          </a:p>
          <a:p>
            <a:pPr lvl="0" marL="0" indent="0">
              <a:buNone/>
            </a:pPr>
            <a:r>
              <a:rPr>
                <a:hlinkClick r:id="rId4"/>
              </a:rPr>
              <a:t>Lycée général et technologique</a:t>
            </a:r>
          </a:p>
          <a:p>
            <a:pPr lvl="0" marL="0" indent="0">
              <a:buNone/>
            </a:pPr>
            <a:r>
              <a:rPr/>
              <a:t>Formation professionnalisante donc équilibre entre: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</a:t>
            </a:r>
          </a:p>
          <a:p>
            <a:pPr lvl="0" marL="0" indent="0">
              <a:buNone/>
            </a:pPr>
            <a:r>
              <a:rPr/>
              <a:t>Formation interdisciplinaire donc équilibre entre: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qui aident à comprendre le monde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 de collaboration entre étudiants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marL="0" indent="0" algn="l"><a:buNone /></a:pPr><a:r><a:rPr /><a:t>USA</a:t></a:r></a:p></a:txBody></a:tc><a:tc><a:txBody><a:bodyPr /><a:lstStyle /><a:p><a:pPr lvl="0" marL="0" indent="0" algn="ctr"><a:buNone /></a:pPr><a14:m><m:oMath xmlns:m="http://schemas.openxmlformats.org/officeDocument/2006/math"><m:r><m:t>↔</m:t></m:r></m:oMath></a14:m></a:p></a:txBody></a:tc><a:tc><a:txBody><a:bodyPr /><a:lstStyle /><a:p><a:pPr lvl="0" marL="0" indent="0" algn="r"><a:buNone /></a:pPr><a:r><a:rPr /><a:t>France</a:t></a:r></a:p></a:txBody></a:tc></a:tr><a:tr h="0"><a:tc><a:txBody><a:bodyPr /><a:lstStyle /><a:p><a:pPr lvl="0" marL="0" indent="0" algn="l"><a:buNone /></a:pPr><a:r><a:rPr /><a:t>U.</a:t></a:r><a:r><a:rPr /><a:t> </a:t></a:r><a:r><a:rPr /><a:t>Washington</a:t></a:r></a:p></a:txBody></a:tc><a:tc><a:txBody><a:bodyPr /><a:lstStyle /><a:p><a:endParaRPr /></a:p></a:txBody></a:tc><a:tc><a:txBody><a:bodyPr /><a:lstStyle /><a:p><a:pPr lvl="0" marL="0" indent="0" algn="r"><a:buNone /></a:pPr><a:r><a:rPr /><a:t>Inspé</a:t></a:r><a:r><a:rPr /><a:t> </a:t></a:r><a:r><a:rPr /><a:t>Marseille</a:t></a:r></a:p></a:txBody></a:tc></a:tr><a:tr h="0"><a:tc><a:txBody><a:bodyPr /><a:lstStyle /><a:p><a:pPr lvl="0" marL="0" indent="0" algn="l"><a:buNone /></a:pPr><a:r><a:rPr /><a:t>3-4</a:t></a:r><a:r><a:rPr /><a:t> </a:t></a:r><a:r><a:rPr /><a:t>students</a:t></a:r></a:p></a:txBody></a:tc><a:tc><a:txBody><a:bodyPr /><a:lstStyle /><a:p><a:endParaRPr /></a:p></a:txBody></a:tc><a:tc><a:txBody><a:bodyPr /><a:lstStyle /><a:p><a:pPr lvl="0" marL="0" indent="0" algn="r"><a:buNone /></a:pPr><a:r><a:rPr /><a:t>3-4</a:t></a:r><a:r><a:rPr /><a:t> </a:t></a:r><a:r><a:rPr /><a:t>étudiants</a:t></a:r></a:p></a:txBody></a:tc></a:tr><a:tr h="0"><a:tc><a:txBody><a:bodyPr /><a:lstStyle /><a:p><a:pPr lvl="0" marL="0" indent="0" algn="l"><a:buNone /></a:pPr><a:r><a:rPr /><a:t>J.</a:t></a:r><a:r><a:rPr /><a:t> </a:t></a:r><a:r><a:rPr /><a:t>Athreya</a:t></a:r></a:p></a:txBody></a:tc><a:tc><a:txBody><a:bodyPr /><a:lstStyle /><a:p><a:endParaRPr /></a:p></a:txBody></a:tc><a:tc><a:txBody><a:bodyPr /><a:lstStyle /><a:p><a:pPr lvl="0" marL="0" indent="0" algn="r"><a:buNone /></a:pPr><a:r><a:rPr /><a:t>A.</a:t></a:r><a:r><a:rPr /><a:t> </a:t></a:r><a:r><a:rPr /><a:t>Málaga</a:t></a:r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Mise en relation entre mon parcours et la formation des enseignants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Mon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Applications</a:t>
                      </a:r>
                      <a:r>
                        <a:rPr/>
                        <a:t> </a:t>
                      </a:r>
                      <a:r>
                        <a:rPr/>
                        <a:t>à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formation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enseignants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Géométrie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systèmes</a:t>
                      </a:r>
                      <a:r>
                        <a:rPr/>
                        <a:t> </a:t>
                      </a:r>
                      <a:r>
                        <a:rPr/>
                        <a:t>dynamiques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Création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Usages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classe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conception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Créer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documents</a:t>
                      </a:r>
                      <a:r>
                        <a:rPr/>
                        <a:t> </a:t>
                      </a:r>
                      <a:r>
                        <a:rPr/>
                        <a:t>accessibles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</a:t>
                      </a:r>
                      <a:r>
                        <a:rPr/>
                        <a:t> </a:t>
                      </a:r>
                      <a:r>
                        <a:rPr/>
                        <a:t>d’une</a:t>
                      </a:r>
                      <a:r>
                        <a:rPr/>
                        <a:t> </a:t>
                      </a:r>
                      <a:r>
                        <a:rPr/>
                        <a:t>imprimante</a:t>
                      </a:r>
                      <a:r>
                        <a:rPr/>
                        <a:t> </a:t>
                      </a:r>
                      <a:r>
                        <a:rPr/>
                        <a:t>Braille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Esprit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L’armoire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l’enseignant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mathématiques</a:t>
                      </a:r>
                      <a:r>
                        <a:rPr/>
                        <a:t> </a:t>
                      </a:r>
                      <a:r>
                        <a:rPr/>
                        <a:t>Intégration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TICE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Informations</a:t>
                      </a:r>
                      <a:r>
                        <a:rPr/>
                        <a:t> </a:t>
                      </a:r>
                      <a:r>
                        <a:rPr/>
                        <a:t>sur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événements,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milieu,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ressources,…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Propositions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SFERE-Provence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AMPIRIC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Extrait de la présentation d’AMPIRIC de janvier 2020 (Jacques Ginestié)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Projets de recherche</a:t>
            </a:r>
          </a:p>
          <a:p>
            <a:pPr lvl="0" marL="0" indent="0">
              <a:buNone/>
            </a:pPr>
            <a:r>
              <a:rPr/>
              <a:t>Les projets de recherche déjà présentés: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peuvent bénéficier d’une collaboration dans Sfere au-delà de l’ADEF, en particulier avec l’I2M et l’IREM de Marseille.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Colloques et rencontres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Expérience</a:t>
            </a:r>
          </a:p>
          <a:p>
            <a:pPr lvl="0" marL="0" indent="0">
              <a:buNone/>
            </a:pPr>
            <a:r>
              <a:rPr/>
              <a:t>2015: Médiation scientifique et plateformes de partage</a:t>
            </a:r>
            <a:br/>
            <a:r>
              <a:rPr/>
              <a:t>2020: Outils logiciels pour les mathématiques et l’illustration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Propositions</a:t>
            </a:r>
          </a:p>
          <a:p>
            <a:pPr lvl="1"/>
            <a:r>
              <a:rPr/>
              <a:t>Rencontre interrogeant la médiation, ses usages et ses effets</a:t>
            </a:r>
          </a:p>
          <a:p>
            <a:pPr lvl="2"/>
            <a:r>
              <a:rPr/>
              <a:t>suite d’un projet de Sfere: cartographie de la relation entre l’éducation, la médiation, les expériences artistique et scientifique et le développement de la personne, 2018</a:t>
            </a:r>
          </a:p>
          <a:p>
            <a:pPr lvl="1"/>
            <a:r>
              <a:rPr/>
              <a:t>Ateliers Software Carpentry</a:t>
            </a:r>
          </a:p>
          <a:p>
            <a:pPr lvl="2"/>
            <a:r>
              <a:rPr/>
              <a:t>formation à des compétences informatiques pour la recherche.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Médiation scientifique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vieux-port-alba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00200"/>
            <a:ext cx="6794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Une autre exposition Imaginary à Marseille</a:t>
            </a:r>
            <a:br/>
            <a:r>
              <a:rPr/>
              <a:t>avec une approche de recherche didactique.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Pour conclure…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continuité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ouverture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un</a:t>
                      </a:r>
                      <a:r>
                        <a:rPr/>
                        <a:t> </a:t>
                      </a:r>
                      <a:r>
                        <a:rPr/>
                        <a:t>vrai</a:t>
                      </a:r>
                      <a:r>
                        <a:rPr/>
                        <a:t> </a:t>
                      </a:r>
                      <a:r>
                        <a:rPr/>
                        <a:t>souci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fibre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intérêt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enseignement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respect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polyvalent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J’ai à cœur de m’intégrer dans la recherche à l’ADEF, dans l’enseignement à l’Inspé et dans le bain interdisciplinaire de Sfere-Provence.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alba-tim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035300"/>
            <a:ext cx="82296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Audition pour un poste en didactique</dc:title>
  <dc:creator>Alba Marina MÁLAGA SABOGAL</dc:creator>
  <cp:keywords/>
  <dcterms:created xsi:type="dcterms:W3CDTF">2020-06-01T20:40:07Z</dcterms:created>
  <dcterms:modified xsi:type="dcterms:W3CDTF">2020-06-01T20:40:07Z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2020-06-02</vt:lpwstr>
  </property>
  <property fmtid="{D5CDD505-2E9C-101B-9397-08002B2CF9AE}" pid="3" name="header-includes">
    <vt:lpwstr>  </vt:lpwstr>
  </property>
  <property fmtid="{D5CDD505-2E9C-101B-9397-08002B2CF9AE}" pid="4" name="innertheme">
    <vt:lpwstr>circles</vt:lpwstr>
  </property>
  <property fmtid="{D5CDD505-2E9C-101B-9397-08002B2CF9AE}" pid="5" name="outertheme">
    <vt:lpwstr>infolines</vt:lpwstr>
  </property>
  <property fmtid="{D5CDD505-2E9C-101B-9397-08002B2CF9AE}" pid="6" name="section-titles">
    <vt:lpwstr>False</vt:lpwstr>
  </property>
  <property fmtid="{D5CDD505-2E9C-101B-9397-08002B2CF9AE}" pid="7" name="toc">
    <vt:lpwstr>True</vt:lpwstr>
  </property>
</Properties>
</file>