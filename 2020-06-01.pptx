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1" Type="http://schemas.openxmlformats.org/officeDocument/2006/relationships/viewProps" Target="viewProps.xml" /><Relationship Id="rId3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3" Type="http://schemas.openxmlformats.org/officeDocument/2006/relationships/tableStyles" Target="tableStyles.xml" /><Relationship Id="rId3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math.u-psud.fr/~pmassot/enseignement/math114/" TargetMode="Externa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eduscol.education.fr/pid33040/programme-ressources-et-evaluation.html" TargetMode="External" /><Relationship Id="rId3" Type="http://schemas.openxmlformats.org/officeDocument/2006/relationships/hyperlink" Target="https://eduscol.education.fr/pid34139/cycle-2-ecole-elementaire.html" TargetMode="External" /><Relationship Id="rId4" Type="http://schemas.openxmlformats.org/officeDocument/2006/relationships/hyperlink" Target="https://eduscol.education.fr/pid34150/cycle-3-ecole-elementaire-college.html" TargetMode="Externa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eduscol.education.fr/pid34150/cycle-3-ecole-elementaire-college.html" TargetMode="External" /><Relationship Id="rId3" Type="http://schemas.openxmlformats.org/officeDocument/2006/relationships/hyperlink" Target="https://eduscol.education.fr/pid34185/cycle-4-college.html" TargetMode="External" /><Relationship Id="rId4" Type="http://schemas.openxmlformats.org/officeDocument/2006/relationships/hyperlink" Target="https://eduscol.education.fr/pid38708/lycee-general-et-technologique-bac-2021.html" TargetMode="Externa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jpg" />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Audition</a:t>
            </a:r>
            <a:r>
              <a:rPr/>
              <a:t> </a:t>
            </a:r>
            <a:r>
              <a:rPr/>
              <a:t>pour</a:t>
            </a:r>
            <a:r>
              <a:rPr/>
              <a:t> </a:t>
            </a:r>
            <a:r>
              <a:rPr/>
              <a:t>un</a:t>
            </a:r>
            <a:r>
              <a:rPr/>
              <a:t> </a:t>
            </a:r>
            <a:r>
              <a:rPr/>
              <a:t>poste</a:t>
            </a:r>
            <a:r>
              <a:rPr/>
              <a:t> </a:t>
            </a:r>
            <a:r>
              <a:rPr/>
              <a:t>en</a:t>
            </a:r>
            <a:r>
              <a:rPr/>
              <a:t> </a:t>
            </a:r>
            <a:r>
              <a:rPr/>
              <a:t>didactique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br/>
            <a:br/>
            <a:r>
              <a:rPr/>
              <a:t>Alba</a:t>
            </a:r>
            <a:r>
              <a:rPr/>
              <a:t> </a:t>
            </a:r>
            <a:r>
              <a:rPr/>
              <a:t>Marina</a:t>
            </a:r>
            <a:r>
              <a:rPr/>
              <a:t> </a:t>
            </a:r>
            <a:r>
              <a:rPr/>
              <a:t>MÁLAGA</a:t>
            </a:r>
            <a:r>
              <a:rPr/>
              <a:t> </a:t>
            </a:r>
            <a:r>
              <a:rPr/>
              <a:t>SABOGAL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2020-06-02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Intégration</a:t>
            </a:r>
            <a:r>
              <a:rPr/>
              <a:t> </a:t>
            </a:r>
            <a:r>
              <a:rPr/>
              <a:t>à</a:t>
            </a:r>
            <a:r>
              <a:rPr/>
              <a:t> </a:t>
            </a:r>
            <a:r>
              <a:rPr/>
              <a:t>l’ADEF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EAST: Rôle des artefacts dans l’efficacité de l’éducation scientifique et technologique</a:t>
            </a:r>
          </a:p>
          <a:p>
            <a:pPr lvl="0" marL="0" indent="0">
              <a:buNone/>
            </a:pPr>
            <a:r>
              <a:rPr/>
              <a:t>Axe thématique «outils et instruments pour l’enseignement».</a:t>
            </a:r>
          </a:p>
          <a:p>
            <a:pPr lvl="0" marL="0" indent="0">
              <a:buNone/>
            </a:pPr>
            <a:r>
              <a:rPr/>
              <a:t>Quelques projets de recherche: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graphicFrame><p:nvGraphicFramePr><p:cNvPr id="6" name="Content Placeholder 5" /><p:cNvGraphicFramePr><a:graphicFrameLocks noGrp="1" /></p:cNvGraphicFramePr><p:nvPr><p:ph idx="1" /></p:nvPr></p:nvGraphicFramePr><p:xfrm><a:off x="457200" y="1600200" /><a:ext cx="8229600" cy="4521200" /></p:xfrm><a:graphic><a:graphicData uri="http://schemas.openxmlformats.org/drawingml/2006/table"><a:tbl><a:tblPr firstRow="1" bandRow="1"><a:tableStyleId>{5C22544A-7EE6-4342-B048-85BDC9FD1C3A}</a:tableStyleId></a:tblPr><a:tblGrid><a:gridCol w="4114800" /><a:gridCol w="4114800" /></a:tblGrid><a:tr h="0"><a:tc><a:txBody><a:bodyPr /><a:lstStyle /><a:p><a:pPr lvl="0" marL="0" indent="0" algn="l"><a:buNone /></a:pPr><a:r><a:rPr /><a:t>Primaire</a:t></a:r></a:p></a:txBody></a:tc><a:tc><a:txBody><a:bodyPr /><a:lstStyle /><a:p><a:pPr lvl="0" marL="0" indent="0" algn="l"><a:buNone /></a:pPr><a:r><a:rPr /><a:t>Nombres</a:t></a:r><a:r><a:rPr /><a:t> </a:t></a:r><a:r><a:rPr /><a:t>avec</a:t></a:r><a:r><a:rPr /><a:t> </a:t></a:r><a:r><a:rPr /><a:t>la</a:t></a:r><a:r><a:rPr /><a:t> </a:t></a:r><a:r><a:rPr /><a:t>yupana</a:t></a:r><a:r><a:rPr /><a:t> </a:t></a:r><a:r><a:rPr /><a:t>inca</a:t></a:r></a:p></a:txBody></a:tc></a:tr><a:tr h="0"><a:tc><a:txBody><a:bodyPr /><a:lstStyle /><a:p><a:pPr lvl="0" marL="0" indent="0" algn="l"><a:buNone /></a:pPr><a:r><a:rPr /><a:t>Secondaire</a:t></a:r></a:p></a:txBody></a:tc><a:tc><a:txBody><a:bodyPr /><a:lstStyle /><a:p><a:pPr lvl="0" marL="0" indent="0" algn="l"><a:buNone /></a:pPr><a:r><a:rPr /><a:t>Géométrie</a:t></a:r><a:r><a:rPr /><a:t> </a:t></a:r><a:r><a:rPr /><a:t>avec</a:t></a:r><a:r><a:rPr /><a:t> </a:t></a:r><a:r><a:rPr /><a:t>l’impression</a:t></a:r><a:r><a:rPr /><a:t> </a:t></a:r><a:r><a:rPr /><a:t>3D</a:t></a:r></a:p></a:txBody></a:tc></a:tr><a:tr h="0"><a:tc><a:txBody><a:bodyPr /><a:lstStyle /><a:p><a:pPr lvl="0" marL="0" indent="0" algn="l"><a:buNone /></a:pPr><a:r><a:rPr /><a:t>Supérieur</a:t></a:r></a:p></a:txBody></a:tc><a:tc><a:txBody><a:bodyPr /><a:lstStyle /><a:p><a:pPr lvl="0" marL="0" indent="0" algn="l"><a:buNone /></a:pPr><a:r><a:rPr /><a:t>Le</a:t></a:r><a:r><a:rPr /><a:t> </a:t></a:r><a:r><a:rPr /><a:t>raisonnement</a:t></a:r><a:r><a:rPr /><a:t> </a:t></a:r><a:r><a:rPr /><a:t>mathématique</a:t></a:r><a:r><a:rPr /><a:t> </a:t></a:r><a:r><a:rPr /><a:t>avec</a:t></a:r><a:r><a:rPr /><a:t> </a:t></a:r><a:r><a:rPr /><a:t>L</a:t></a:r><a14:m><m:oMath xmlns:m="http://schemas.openxmlformats.org/officeDocument/2006/math"><m:r><m:t>∃</m:t></m:r><m:r><m:t>∀</m:t></m:r></m:oMath></a14:m><a:r><a:rPr /><a:t>N</a:t></a:r></a:p></a:txBody></a:tc></a:tr></a:tbl></a:graphicData></a:graphic></p:graphicFrame></p:spTree></p:cSld>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Yupana inca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Expérience d’initiation à l’addition et à la multiplication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L’impression 3D</a:t>
            </a:r>
          </a:p>
          <a:p>
            <a:pPr lvl="0" marL="0" indent="0">
              <a:buNone/>
            </a:pPr>
          </a:p>
          <a:p>
            <a:pPr lvl="0" marL="0" indent="0">
              <a:buNone/>
            </a:pPr>
            <a:r>
              <a:rPr/>
              <a:t>Vecteur de compréhension de la géométrie.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L’impression 3D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/dodecaedre-et-tore-avec-patr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87400" y="1600200"/>
            <a:ext cx="75565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Diverses techniques de représentation de polyèdres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marL="0" indent="0">
                  <a:spcBef>
                    <a:spcPts val="3000"/>
                  </a:spcBef>
                  <a:buNone/>
                </a:pPr>
                <a:r>
                  <a:rPr b="1"/>
                  <a:t>Le raisonnement mathématique avec L</a:t>
                </a:r>
                <a14:m>
                  <m:oMath xmlns:m="http://schemas.openxmlformats.org/officeDocument/2006/math">
                    <m:r>
                      <m:t>∃</m:t>
                    </m:r>
                    <m:r>
                      <m:t>∀</m:t>
                    </m:r>
                  </m:oMath>
                </a14:m>
                <a:r>
                  <a:rPr b="1"/>
                  <a:t>N</a:t>
                </a:r>
              </a:p>
              <a:p>
                <a:pPr lvl="0" marL="0" indent="0">
                  <a:buNone/>
                </a:pPr>
                <a:r>
                  <a:rPr/>
                  <a:t>L</a:t>
                </a:r>
                <a14:m>
                  <m:oMath xmlns:m="http://schemas.openxmlformats.org/officeDocument/2006/math">
                    <m:r>
                      <m:t>∃</m:t>
                    </m:r>
                    <m:r>
                      <m:t>∀</m:t>
                    </m:r>
                  </m:oMath>
                </a14:m>
                <a:r>
                  <a:rPr/>
                  <a:t>N: un assistant de preuves (LEAN)</a:t>
                </a:r>
              </a:p>
              <a:p>
                <a:pPr lvl="0" marL="0" indent="0">
                  <a:buNone/>
                </a:pPr>
                <a:r>
                  <a:rPr/>
                  <a:t>Utilisé en L1 math-info</a:t>
                </a:r>
                <a:br/>
                <a:r>
                  <a:rPr>
                    <a:hlinkClick r:id="rId2"/>
                  </a:rPr>
                  <a:t>cours «Introduction aux mathématiques formalisées»</a:t>
                </a:r>
                <a:br/>
                <a:r>
                  <a:rPr/>
                  <a:t>par Patrick Massot,</a:t>
                </a:r>
                <a:br/>
                <a:r>
                  <a:rPr/>
                  <a:t>prof d’université en mathématiques à Orsay</a:t>
                </a:r>
              </a:p>
              <a:p>
                <a:pPr lvl="0" marL="0" indent="0">
                  <a:buNone/>
                </a:pPr>
              </a:p>
              <a:p>
                <a:pPr lvl="0" marL="0" indent="0">
                  <a:buNone/>
                </a:pPr>
                <a:r>
                  <a:rPr/>
                  <a:t>Exemple de preuve rédigée sur papier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Mes compétences et les thématiques de l’ADEF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Intégration</a:t>
            </a:r>
            <a:r>
              <a:rPr/>
              <a:t> </a:t>
            </a:r>
            <a:r>
              <a:rPr/>
              <a:t>à</a:t>
            </a:r>
            <a:r>
              <a:rPr/>
              <a:t> </a:t>
            </a:r>
            <a:r>
              <a:rPr/>
              <a:t>l’Inspé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Motivée par les questions éducatives</a:t>
            </a:r>
          </a:p>
          <a:p>
            <a:pPr lvl="1"/>
            <a:r>
              <a:rPr/>
              <a:t>suivi deux MOOC sur l’éducation</a:t>
            </a:r>
          </a:p>
          <a:p>
            <a:pPr lvl="2"/>
            <a:r>
              <a:rPr/>
              <a:t>eFan Maths session 2 (ESPÉ de Lyon et autres partenaires)</a:t>
            </a:r>
          </a:p>
          <a:p>
            <a:pPr lvl="3"/>
            <a:r>
              <a:rPr/>
              <a:t>projet «Objets mathématiques imprimés en 3D»</a:t>
            </a:r>
          </a:p>
          <a:p>
            <a:pPr lvl="2"/>
            <a:r>
              <a:rPr/>
              <a:t>Design and Development of Educational Technology (MIT)</a:t>
            </a:r>
          </a:p>
          <a:p>
            <a:pPr lvl="3"/>
            <a:r>
              <a:rPr/>
              <a:t>projet «Plagiarism prevention»</a:t>
            </a:r>
          </a:p>
          <a:p>
            <a:pPr lvl="0" marL="0" indent="0">
              <a:buNone/>
            </a:pPr>
          </a:p>
          <a:p>
            <a:pPr lvl="1"/>
            <a:r>
              <a:rPr/>
              <a:t>interactions avec des enseignants:</a:t>
            </a:r>
          </a:p>
          <a:p>
            <a:pPr lvl="2"/>
            <a:r>
              <a:rPr/>
              <a:t>salons et festivals</a:t>
            </a:r>
          </a:p>
          <a:p>
            <a:pPr lvl="2"/>
            <a:r>
              <a:rPr/>
              <a:t>fêtes de la science</a:t>
            </a:r>
          </a:p>
          <a:p>
            <a:pPr lvl="2"/>
            <a:r>
              <a:rPr/>
              <a:t>visites en classes</a:t>
            </a:r>
          </a:p>
          <a:p>
            <a:pPr lvl="2"/>
            <a:r>
              <a:rPr/>
              <a:t>et aussi dans les MOOC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Formation des professeurs des écoles</a:t>
            </a:r>
          </a:p>
          <a:p>
            <a:pPr lvl="0" marL="0" indent="0">
              <a:buNone/>
            </a:pPr>
            <a:r>
              <a:rPr/>
              <a:t>Trois étapes:</a:t>
            </a:r>
          </a:p>
          <a:p>
            <a:pPr lvl="1"/>
            <a:r>
              <a:rPr>
                <a:hlinkClick r:id="rId2"/>
              </a:rPr>
              <a:t>cycle 1</a:t>
            </a:r>
            <a:r>
              <a:rPr/>
              <a:t> – apprentissages premiers</a:t>
            </a:r>
          </a:p>
          <a:p>
            <a:pPr lvl="1"/>
            <a:r>
              <a:rPr>
                <a:hlinkClick r:id="rId3"/>
              </a:rPr>
              <a:t>cycle 2</a:t>
            </a:r>
            <a:r>
              <a:rPr/>
              <a:t> – apprentissages fondamentaux</a:t>
            </a:r>
          </a:p>
          <a:p>
            <a:pPr lvl="1"/>
            <a:r>
              <a:rPr>
                <a:hlinkClick r:id="rId4"/>
              </a:rPr>
              <a:t>cycle 3</a:t>
            </a:r>
            <a:r>
              <a:rPr/>
              <a:t> – consolidation, lien avec le collège</a:t>
            </a:r>
          </a:p>
          <a:p>
            <a:pPr lvl="0" marL="0" indent="0">
              <a:buNone/>
            </a:pPr>
            <a:r>
              <a:rPr/>
              <a:t>Formation professionnalisante donc équilibre entre:</a:t>
            </a:r>
          </a:p>
          <a:p>
            <a:pPr lvl="1"/>
            <a:r>
              <a:rPr/>
              <a:t>besoins du métier</a:t>
            </a:r>
          </a:p>
          <a:p>
            <a:pPr lvl="1"/>
            <a:r>
              <a:rPr/>
              <a:t>approche scientifique</a:t>
            </a:r>
          </a:p>
          <a:p>
            <a:pPr lvl="0" marL="0" indent="0">
              <a:buNone/>
            </a:pPr>
            <a:r>
              <a:rPr/>
              <a:t>Formation interdisciplinaire donc équilibre entre:</a:t>
            </a:r>
          </a:p>
          <a:p>
            <a:pPr lvl="1"/>
            <a:r>
              <a:rPr/>
              <a:t>s’assurer d’une maîtrise des mathématiques fondamentales</a:t>
            </a:r>
          </a:p>
          <a:p>
            <a:pPr lvl="1"/>
            <a:r>
              <a:rPr/>
              <a:t>former à un enseignement des mathématiques ancrée dans le monde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Formation des professeurs certifiés</a:t>
            </a:r>
          </a:p>
          <a:p>
            <a:pPr lvl="0" marL="0" indent="0">
              <a:buNone/>
            </a:pPr>
            <a:r>
              <a:rPr/>
              <a:t>Collège:</a:t>
            </a:r>
          </a:p>
          <a:p>
            <a:pPr lvl="1"/>
            <a:r>
              <a:rPr>
                <a:hlinkClick r:id="rId2"/>
              </a:rPr>
              <a:t>cycle 3</a:t>
            </a:r>
            <a:r>
              <a:rPr/>
              <a:t> – consolidation, lien avec le primaire</a:t>
            </a:r>
          </a:p>
          <a:p>
            <a:pPr lvl="1"/>
            <a:r>
              <a:rPr>
                <a:hlinkClick r:id="rId3"/>
              </a:rPr>
              <a:t>cycle 4</a:t>
            </a:r>
            <a:r>
              <a:rPr/>
              <a:t> – approfondissements</a:t>
            </a:r>
          </a:p>
          <a:p>
            <a:pPr lvl="0" marL="0" indent="0">
              <a:buNone/>
            </a:pPr>
            <a:r>
              <a:rPr>
                <a:hlinkClick r:id="rId4"/>
              </a:rPr>
              <a:t>Lycée général et technologique</a:t>
            </a:r>
          </a:p>
          <a:p>
            <a:pPr lvl="0" marL="0" indent="0">
              <a:buNone/>
            </a:pPr>
            <a:r>
              <a:rPr/>
              <a:t>Formation professionnalisante donc équilibre entre:</a:t>
            </a:r>
          </a:p>
          <a:p>
            <a:pPr lvl="1"/>
            <a:r>
              <a:rPr/>
              <a:t>besoins du métier</a:t>
            </a:r>
          </a:p>
          <a:p>
            <a:pPr lvl="1"/>
            <a:r>
              <a:rPr/>
              <a:t>approche scientifique</a:t>
            </a:r>
          </a:p>
          <a:p>
            <a:pPr lvl="0" marL="0" indent="0">
              <a:buNone/>
            </a:pPr>
            <a:r>
              <a:rPr/>
              <a:t>Formation interdisciplinaire donc équilibre entre:</a:t>
            </a:r>
          </a:p>
          <a:p>
            <a:pPr lvl="1"/>
            <a:r>
              <a:rPr/>
              <a:t>s’assurer d’une maîtrise des mathématiques fondamentales</a:t>
            </a:r>
          </a:p>
          <a:p>
            <a:pPr lvl="1"/>
            <a:r>
              <a:rPr/>
              <a:t>former à un enseignement des mathématiques qui aident à comprendre le monde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Proposition de collaboration entre étudiants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graphicFrame><p:nvGraphicFramePr><p:cNvPr id="6" name="Content Placeholder 5" /><p:cNvGraphicFramePr><a:graphicFrameLocks noGrp="1" /></p:cNvGraphicFramePr><p:nvPr><p:ph idx="1" /></p:nvPr></p:nvGraphicFramePr><p:xfrm><a:off x="457200" y="1600200" /><a:ext cx="8229600" cy="4521200" /></p:xfrm><a:graphic><a:graphicData uri="http://schemas.openxmlformats.org/drawingml/2006/table"><a:tbl><a:tblPr firstRow="1" bandRow="1"><a:tableStyleId>{5C22544A-7EE6-4342-B048-85BDC9FD1C3A}</a:tableStyleId></a:tblPr><a:tblGrid><a:gridCol w="2743200" /><a:gridCol w="2743200" /><a:gridCol w="2743200" /></a:tblGrid><a:tr h="0"><a:tc><a:txBody><a:bodyPr /><a:lstStyle /><a:p><a:pPr lvl="0" marL="0" indent="0" algn="l"><a:buNone /></a:pPr><a:r><a:rPr /><a:t>USA</a:t></a:r></a:p></a:txBody></a:tc><a:tc><a:txBody><a:bodyPr /><a:lstStyle /><a:p><a:pPr lvl="0" marL="0" indent="0" algn="ctr"><a:buNone /></a:pPr><a14:m><m:oMath xmlns:m="http://schemas.openxmlformats.org/officeDocument/2006/math"><m:r><m:t>↔</m:t></m:r></m:oMath></a14:m></a:p></a:txBody></a:tc><a:tc><a:txBody><a:bodyPr /><a:lstStyle /><a:p><a:pPr lvl="0" marL="0" indent="0" algn="r"><a:buNone /></a:pPr><a:r><a:rPr /><a:t>France</a:t></a:r></a:p></a:txBody></a:tc></a:tr><a:tr h="0"><a:tc><a:txBody><a:bodyPr /><a:lstStyle /><a:p><a:pPr lvl="0" marL="0" indent="0" algn="l"><a:buNone /></a:pPr><a:r><a:rPr /><a:t>U.</a:t></a:r><a:r><a:rPr /><a:t> </a:t></a:r><a:r><a:rPr /><a:t>Washington</a:t></a:r></a:p></a:txBody></a:tc><a:tc><a:txBody><a:bodyPr /><a:lstStyle /><a:p><a:endParaRPr /></a:p></a:txBody></a:tc><a:tc><a:txBody><a:bodyPr /><a:lstStyle /><a:p><a:pPr lvl="0" marL="0" indent="0" algn="r"><a:buNone /></a:pPr><a:r><a:rPr /><a:t>Inspé</a:t></a:r><a:r><a:rPr /><a:t> </a:t></a:r><a:r><a:rPr /><a:t>Marseille</a:t></a:r></a:p></a:txBody></a:tc></a:tr><a:tr h="0"><a:tc><a:txBody><a:bodyPr /><a:lstStyle /><a:p><a:pPr lvl="0" marL="0" indent="0" algn="l"><a:buNone /></a:pPr><a:r><a:rPr /><a:t>3-4</a:t></a:r><a:r><a:rPr /><a:t> </a:t></a:r><a:r><a:rPr /><a:t>students</a:t></a:r></a:p></a:txBody></a:tc><a:tc><a:txBody><a:bodyPr /><a:lstStyle /><a:p><a:endParaRPr /></a:p></a:txBody></a:tc><a:tc><a:txBody><a:bodyPr /><a:lstStyle /><a:p><a:pPr lvl="0" marL="0" indent="0" algn="r"><a:buNone /></a:pPr><a:r><a:rPr /><a:t>3-4</a:t></a:r><a:r><a:rPr /><a:t> </a:t></a:r><a:r><a:rPr /><a:t>étudiants</a:t></a:r></a:p></a:txBody></a:tc></a:tr><a:tr h="0"><a:tc><a:txBody><a:bodyPr /><a:lstStyle /><a:p><a:pPr lvl="0" marL="0" indent="0" algn="l"><a:buNone /></a:pPr><a:r><a:rPr /><a:t>J.</a:t></a:r><a:r><a:rPr /><a:t> </a:t></a:r><a:r><a:rPr /><a:t>Athreya</a:t></a:r></a:p></a:txBody></a:tc><a:tc><a:txBody><a:bodyPr /><a:lstStyle /><a:p><a:endParaRPr /></a:p></a:txBody></a:tc><a:tc><a:txBody><a:bodyPr /><a:lstStyle /><a:p><a:pPr lvl="0" marL="0" indent="0" algn="r"><a:buNone /></a:pPr><a:r><a:rPr /><a:t>A.</a:t></a:r><a:r><a:rPr /><a:t> </a:t></a:r><a:r><a:rPr /><a:t>Málaga</a:t></a:r></a:p></a:txBody></a:tc></a:tr></a:tbl></a:graphicData></a:graphic></p:graphicFrame></p:spTree></p:cSld>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Mise en relation entre mon parcours et la formation des enseignants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Mon</a:t>
                      </a:r>
                      <a:r>
                        <a:rPr/>
                        <a:t> </a:t>
                      </a:r>
                      <a:r>
                        <a:rPr/>
                        <a:t>parcours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Applications</a:t>
                      </a:r>
                      <a:r>
                        <a:rPr/>
                        <a:t> </a:t>
                      </a:r>
                      <a:r>
                        <a:rPr/>
                        <a:t>à</a:t>
                      </a:r>
                      <a:r>
                        <a:rPr/>
                        <a:t> </a:t>
                      </a:r>
                      <a:r>
                        <a:rPr/>
                        <a:t>la</a:t>
                      </a:r>
                      <a:r>
                        <a:rPr/>
                        <a:t> </a:t>
                      </a:r>
                      <a:r>
                        <a:rPr/>
                        <a:t>formation</a:t>
                      </a:r>
                      <a:r>
                        <a:rPr/>
                        <a:t> </a:t>
                      </a:r>
                      <a:r>
                        <a:rPr/>
                        <a:t>des</a:t>
                      </a:r>
                      <a:r>
                        <a:rPr/>
                        <a:t> </a:t>
                      </a:r>
                      <a:r>
                        <a:rPr/>
                        <a:t>enseignants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Géométrie</a:t>
                      </a:r>
                      <a:r>
                        <a:rPr/>
                        <a:t> </a:t>
                      </a:r>
                      <a:r>
                        <a:rPr/>
                        <a:t>et</a:t>
                      </a:r>
                      <a:r>
                        <a:rPr/>
                        <a:t> </a:t>
                      </a:r>
                      <a:r>
                        <a:rPr/>
                        <a:t>systèmes</a:t>
                      </a:r>
                      <a:r>
                        <a:rPr/>
                        <a:t> </a:t>
                      </a:r>
                      <a:r>
                        <a:rPr/>
                        <a:t>dynamiques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Création</a:t>
                      </a:r>
                      <a:r>
                        <a:rPr/>
                        <a:t> </a:t>
                      </a:r>
                      <a:r>
                        <a:rPr/>
                        <a:t>de</a:t>
                      </a:r>
                      <a:r>
                        <a:rPr/>
                        <a:t> </a:t>
                      </a:r>
                      <a:r>
                        <a:rPr/>
                        <a:t>parcours</a:t>
                      </a:r>
                      <a:r>
                        <a:rPr/>
                        <a:t> </a:t>
                      </a:r>
                      <a:r>
                        <a:rPr/>
                        <a:t>de</a:t>
                      </a:r>
                      <a:r>
                        <a:rPr/>
                        <a:t> </a:t>
                      </a:r>
                      <a:r>
                        <a:rPr/>
                        <a:t>recherche</a:t>
                      </a:r>
                      <a:r>
                        <a:rPr/>
                        <a:t> </a:t>
                      </a:r>
                      <a:r>
                        <a:rPr/>
                        <a:t>pour</a:t>
                      </a:r>
                      <a:r>
                        <a:rPr/>
                        <a:t> </a:t>
                      </a:r>
                      <a:r>
                        <a:rPr/>
                        <a:t>les</a:t>
                      </a:r>
                      <a:r>
                        <a:rPr/>
                        <a:t> </a:t>
                      </a:r>
                      <a:r>
                        <a:rPr/>
                        <a:t>élèves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Impression</a:t>
                      </a:r>
                      <a:r>
                        <a:rPr/>
                        <a:t> </a:t>
                      </a:r>
                      <a:r>
                        <a:rPr/>
                        <a:t>3D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Usages</a:t>
                      </a:r>
                      <a:r>
                        <a:rPr/>
                        <a:t> </a:t>
                      </a:r>
                      <a:r>
                        <a:rPr/>
                        <a:t>en</a:t>
                      </a:r>
                      <a:r>
                        <a:rPr/>
                        <a:t> </a:t>
                      </a:r>
                      <a:r>
                        <a:rPr/>
                        <a:t>classe</a:t>
                      </a:r>
                      <a:r>
                        <a:rPr/>
                        <a:t> </a:t>
                      </a:r>
                      <a:r>
                        <a:rPr/>
                        <a:t>de</a:t>
                      </a:r>
                      <a:r>
                        <a:rPr/>
                        <a:t> </a:t>
                      </a:r>
                      <a:r>
                        <a:rPr/>
                        <a:t>la</a:t>
                      </a:r>
                      <a:r>
                        <a:rPr/>
                        <a:t> </a:t>
                      </a:r>
                      <a:r>
                        <a:rPr/>
                        <a:t>conception</a:t>
                      </a:r>
                      <a:r>
                        <a:rPr/>
                        <a:t> </a:t>
                      </a:r>
                      <a:r>
                        <a:rPr/>
                        <a:t>et</a:t>
                      </a:r>
                      <a:r>
                        <a:rPr/>
                        <a:t> </a:t>
                      </a:r>
                      <a:r>
                        <a:rPr/>
                        <a:t>de</a:t>
                      </a:r>
                      <a:r>
                        <a:rPr/>
                        <a:t> </a:t>
                      </a:r>
                      <a:r>
                        <a:rPr/>
                        <a:t>l’impression</a:t>
                      </a:r>
                      <a:r>
                        <a:rPr/>
                        <a:t> </a:t>
                      </a:r>
                      <a:r>
                        <a:rPr/>
                        <a:t>3D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Accessibilité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Créer</a:t>
                      </a:r>
                      <a:r>
                        <a:rPr/>
                        <a:t> </a:t>
                      </a:r>
                      <a:r>
                        <a:rPr/>
                        <a:t>des</a:t>
                      </a:r>
                      <a:r>
                        <a:rPr/>
                        <a:t> </a:t>
                      </a:r>
                      <a:r>
                        <a:rPr/>
                        <a:t>documents</a:t>
                      </a:r>
                      <a:r>
                        <a:rPr/>
                        <a:t> </a:t>
                      </a:r>
                      <a:r>
                        <a:rPr/>
                        <a:t>accessibles</a:t>
                      </a:r>
                      <a:r>
                        <a:rPr/>
                        <a:t> </a:t>
                      </a:r>
                      <a:r>
                        <a:rPr/>
                        <a:t>pour</a:t>
                      </a:r>
                      <a:r>
                        <a:rPr/>
                        <a:t> </a:t>
                      </a:r>
                      <a:r>
                        <a:rPr/>
                        <a:t>les</a:t>
                      </a:r>
                      <a:r>
                        <a:rPr/>
                        <a:t> </a:t>
                      </a:r>
                      <a:r>
                        <a:rPr/>
                        <a:t>élèves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Usage</a:t>
                      </a:r>
                      <a:r>
                        <a:rPr/>
                        <a:t> </a:t>
                      </a:r>
                      <a:r>
                        <a:rPr/>
                        <a:t>d’une</a:t>
                      </a:r>
                      <a:r>
                        <a:rPr/>
                        <a:t> </a:t>
                      </a:r>
                      <a:r>
                        <a:rPr/>
                        <a:t>imprimante</a:t>
                      </a:r>
                      <a:r>
                        <a:rPr/>
                        <a:t> </a:t>
                      </a:r>
                      <a:r>
                        <a:rPr/>
                        <a:t>Braille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Esprit</a:t>
                      </a:r>
                      <a:r>
                        <a:rPr/>
                        <a:t> </a:t>
                      </a:r>
                      <a:r>
                        <a:rPr/>
                        <a:t>«maker»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L’armoire</a:t>
                      </a:r>
                      <a:r>
                        <a:rPr/>
                        <a:t> </a:t>
                      </a:r>
                      <a:r>
                        <a:rPr/>
                        <a:t>de</a:t>
                      </a:r>
                      <a:r>
                        <a:rPr/>
                        <a:t> </a:t>
                      </a:r>
                      <a:r>
                        <a:rPr/>
                        <a:t>l’enseignant</a:t>
                      </a:r>
                      <a:r>
                        <a:rPr/>
                        <a:t> </a:t>
                      </a:r>
                      <a:r>
                        <a:rPr/>
                        <a:t>de</a:t>
                      </a:r>
                      <a:r>
                        <a:rPr/>
                        <a:t> </a:t>
                      </a:r>
                      <a:r>
                        <a:rPr/>
                        <a:t>mathématiques</a:t>
                      </a:r>
                      <a:r>
                        <a:rPr/>
                        <a:t> </a:t>
                      </a:r>
                      <a:r>
                        <a:rPr/>
                        <a:t>Intégration</a:t>
                      </a:r>
                      <a:r>
                        <a:rPr/>
                        <a:t> </a:t>
                      </a:r>
                      <a:r>
                        <a:rPr/>
                        <a:t>des</a:t>
                      </a:r>
                      <a:r>
                        <a:rPr/>
                        <a:t> </a:t>
                      </a:r>
                      <a:r>
                        <a:rPr/>
                        <a:t>TICE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Médiation</a:t>
                      </a:r>
                      <a:r>
                        <a:rPr/>
                        <a:t> </a:t>
                      </a:r>
                      <a:r>
                        <a:rPr/>
                        <a:t>scientifique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Informations</a:t>
                      </a:r>
                      <a:r>
                        <a:rPr/>
                        <a:t> </a:t>
                      </a:r>
                      <a:r>
                        <a:rPr/>
                        <a:t>sur</a:t>
                      </a:r>
                      <a:r>
                        <a:rPr/>
                        <a:t> </a:t>
                      </a:r>
                      <a:r>
                        <a:rPr/>
                        <a:t>les</a:t>
                      </a:r>
                      <a:r>
                        <a:rPr/>
                        <a:t> </a:t>
                      </a:r>
                      <a:r>
                        <a:rPr/>
                        <a:t>événements,</a:t>
                      </a:r>
                      <a:r>
                        <a:rPr/>
                        <a:t> </a:t>
                      </a:r>
                      <a:r>
                        <a:rPr/>
                        <a:t>le</a:t>
                      </a:r>
                      <a:r>
                        <a:rPr/>
                        <a:t> </a:t>
                      </a:r>
                      <a:r>
                        <a:rPr/>
                        <a:t>milieu,</a:t>
                      </a:r>
                      <a:r>
                        <a:rPr/>
                        <a:t> </a:t>
                      </a:r>
                      <a:r>
                        <a:rPr/>
                        <a:t>les</a:t>
                      </a:r>
                      <a:r>
                        <a:rPr/>
                        <a:t> </a:t>
                      </a:r>
                      <a:r>
                        <a:rPr/>
                        <a:t>ressources,…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Propositions</a:t>
            </a:r>
            <a:r>
              <a:rPr/>
              <a:t> </a:t>
            </a:r>
            <a:r>
              <a:rPr/>
              <a:t>pour</a:t>
            </a:r>
            <a:r>
              <a:rPr/>
              <a:t> </a:t>
            </a:r>
            <a:r>
              <a:rPr/>
              <a:t>SFERE-Provence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Projets de recherche</a:t>
            </a:r>
          </a:p>
          <a:p>
            <a:pPr lvl="0" marL="0" indent="0">
              <a:buNone/>
            </a:pPr>
            <a:r>
              <a:rPr/>
              <a:t>Les projets de recherche déjà présentés: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graphicFrame><p:nvGraphicFramePr><p:cNvPr id="6" name="Content Placeholder 5" /><p:cNvGraphicFramePr><a:graphicFrameLocks noGrp="1" /></p:cNvGraphicFramePr><p:nvPr><p:ph idx="1" /></p:nvPr></p:nvGraphicFramePr><p:xfrm><a:off x="457200" y="1600200" /><a:ext cx="8229600" cy="4521200" /></p:xfrm><a:graphic><a:graphicData uri="http://schemas.openxmlformats.org/drawingml/2006/table"><a:tbl><a:tblPr firstRow="1" bandRow="1"><a:tableStyleId>{5C22544A-7EE6-4342-B048-85BDC9FD1C3A}</a:tableStyleId></a:tblPr><a:tblGrid><a:gridCol w="4114800" /><a:gridCol w="4114800" /></a:tblGrid><a:tr h="0"><a:tc><a:txBody><a:bodyPr /><a:lstStyle /><a:p><a:pPr lvl="0" marL="0" indent="0" algn="l"><a:buNone /></a:pPr><a:r><a:rPr /><a:t>Primaire</a:t></a:r></a:p></a:txBody></a:tc><a:tc><a:txBody><a:bodyPr /><a:lstStyle /><a:p><a:pPr lvl="0" marL="0" indent="0" algn="l"><a:buNone /></a:pPr><a:r><a:rPr /><a:t>Nombres</a:t></a:r><a:r><a:rPr /><a:t> </a:t></a:r><a:r><a:rPr /><a:t>avec</a:t></a:r><a:r><a:rPr /><a:t> </a:t></a:r><a:r><a:rPr /><a:t>la</a:t></a:r><a:r><a:rPr /><a:t> </a:t></a:r><a:r><a:rPr /><a:t>yupana</a:t></a:r><a:r><a:rPr /><a:t> </a:t></a:r><a:r><a:rPr /><a:t>inca</a:t></a:r></a:p></a:txBody></a:tc></a:tr><a:tr h="0"><a:tc><a:txBody><a:bodyPr /><a:lstStyle /><a:p><a:pPr lvl="0" marL="0" indent="0" algn="l"><a:buNone /></a:pPr><a:r><a:rPr /><a:t>Secondaire</a:t></a:r></a:p></a:txBody></a:tc><a:tc><a:txBody><a:bodyPr /><a:lstStyle /><a:p><a:pPr lvl="0" marL="0" indent="0" algn="l"><a:buNone /></a:pPr><a:r><a:rPr /><a:t>Géométrie</a:t></a:r><a:r><a:rPr /><a:t> </a:t></a:r><a:r><a:rPr /><a:t>avec</a:t></a:r><a:r><a:rPr /><a:t> </a:t></a:r><a:r><a:rPr /><a:t>l’impression</a:t></a:r><a:r><a:rPr /><a:t> </a:t></a:r><a:r><a:rPr /><a:t>3D</a:t></a:r></a:p></a:txBody></a:tc></a:tr><a:tr h="0"><a:tc><a:txBody><a:bodyPr /><a:lstStyle /><a:p><a:pPr lvl="0" marL="0" indent="0" algn="l"><a:buNone /></a:pPr><a:r><a:rPr /><a:t>Supérieur</a:t></a:r></a:p></a:txBody></a:tc><a:tc><a:txBody><a:bodyPr /><a:lstStyle /><a:p><a:pPr lvl="0" marL="0" indent="0" algn="l"><a:buNone /></a:pPr><a:r><a:rPr /><a:t>Le</a:t></a:r><a:r><a:rPr /><a:t> </a:t></a:r><a:r><a:rPr /><a:t>raisonnement</a:t></a:r><a:r><a:rPr /><a:t> </a:t></a:r><a:r><a:rPr /><a:t>mathématique</a:t></a:r><a:r><a:rPr /><a:t> </a:t></a:r><a:r><a:rPr /><a:t>avec</a:t></a:r><a:r><a:rPr /><a:t> </a:t></a:r><a:r><a:rPr /><a:t>L</a:t></a:r><a14:m><m:oMath xmlns:m="http://schemas.openxmlformats.org/officeDocument/2006/math"><m:r><m:t>∃</m:t></m:r><m:r><m:t>∀</m:t></m:r></m:oMath></a14:m><a:r><a:rPr /><a:t>N</a:t></a:r></a:p></a:txBody></a:tc></a:tr></a:tbl></a:graphicData></a:graphic></p:graphicFrame></p:spTree></p:cSld>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peuvent bénéficier d’une collaboration dans Sfere au-delà de l’ADEF, en particulier avec l’I2M et l’IREM de Marseille.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Colloques et rencontres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Expérience</a:t>
            </a:r>
          </a:p>
          <a:p>
            <a:pPr lvl="0" marL="0" indent="0">
              <a:buNone/>
            </a:pPr>
            <a:r>
              <a:rPr/>
              <a:t>2015: Médiation scientifique et plateformes de partage</a:t>
            </a:r>
            <a:br/>
            <a:r>
              <a:rPr/>
              <a:t>2020: Outils logiciels pour les mathématiques et l’illustration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Propositions</a:t>
            </a:r>
          </a:p>
          <a:p>
            <a:pPr lvl="1"/>
            <a:r>
              <a:rPr/>
              <a:t>Rencontre interrogeant la médiation, ses usages et ses effets</a:t>
            </a:r>
          </a:p>
          <a:p>
            <a:pPr lvl="2"/>
            <a:r>
              <a:rPr/>
              <a:t>suite d’un projet de Sfere: cartographie de la relation entre l’éducation, la médiation, les expériences artistique et scientifique et le développement de la personne, 2018</a:t>
            </a:r>
          </a:p>
          <a:p>
            <a:pPr lvl="1"/>
            <a:r>
              <a:rPr/>
              <a:t>Ateliers Software Carpentry</a:t>
            </a:r>
          </a:p>
          <a:p>
            <a:pPr lvl="2"/>
            <a:r>
              <a:rPr/>
              <a:t>formation à des compétences informatiques pour la recherche.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Médiation scientifique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/vieux-port-alba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600200"/>
            <a:ext cx="67945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Une autre exposition Imaginary à Marseille</a:t>
            </a:r>
            <a:br/>
            <a:r>
              <a:rPr/>
              <a:t>avec une approche de recherche didactique.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Pour conclure…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continuité</a:t>
                      </a:r>
                      <a:r>
                        <a:rPr/>
                        <a:t> </a:t>
                      </a:r>
                      <a:r>
                        <a:rPr/>
                        <a:t>et</a:t>
                      </a:r>
                      <a:r>
                        <a:rPr/>
                        <a:t> </a:t>
                      </a:r>
                      <a:r>
                        <a:rPr/>
                        <a:t>ouverture</a:t>
                      </a:r>
                      <a:r>
                        <a:rPr/>
                        <a:t> </a:t>
                      </a:r>
                      <a:r>
                        <a:rPr/>
                        <a:t>dans</a:t>
                      </a:r>
                      <a:r>
                        <a:rPr/>
                        <a:t> </a:t>
                      </a:r>
                      <a:r>
                        <a:rPr/>
                        <a:t>la</a:t>
                      </a:r>
                      <a:r>
                        <a:rPr/>
                        <a:t> </a:t>
                      </a:r>
                      <a:r>
                        <a:rPr/>
                        <a:t>recherche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un</a:t>
                      </a:r>
                      <a:r>
                        <a:rPr/>
                        <a:t> </a:t>
                      </a:r>
                      <a:r>
                        <a:rPr/>
                        <a:t>vrai</a:t>
                      </a:r>
                      <a:r>
                        <a:rPr/>
                        <a:t> </a:t>
                      </a:r>
                      <a:r>
                        <a:rPr/>
                        <a:t>souci</a:t>
                      </a:r>
                      <a:r>
                        <a:rPr/>
                        <a:t> </a:t>
                      </a:r>
                      <a:r>
                        <a:rPr/>
                        <a:t>de</a:t>
                      </a:r>
                      <a:r>
                        <a:rPr/>
                        <a:t> </a:t>
                      </a:r>
                      <a:r>
                        <a:rPr/>
                        <a:t>l’accessibilité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fibre</a:t>
                      </a:r>
                      <a:r>
                        <a:rPr/>
                        <a:t> </a:t>
                      </a:r>
                      <a:r>
                        <a:rPr/>
                        <a:t>«maker»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intérêt</a:t>
                      </a:r>
                      <a:r>
                        <a:rPr/>
                        <a:t> </a:t>
                      </a:r>
                      <a:r>
                        <a:rPr/>
                        <a:t>en</a:t>
                      </a:r>
                      <a:r>
                        <a:rPr/>
                        <a:t> </a:t>
                      </a:r>
                      <a:r>
                        <a:rPr/>
                        <a:t>médiation</a:t>
                      </a:r>
                      <a:r>
                        <a:rPr/>
                        <a:t> </a:t>
                      </a:r>
                      <a:r>
                        <a:rPr/>
                        <a:t>scientifique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enseignement</a:t>
                      </a:r>
                      <a:r>
                        <a:rPr/>
                        <a:t> </a:t>
                      </a:r>
                      <a:r>
                        <a:rPr/>
                        <a:t>dans</a:t>
                      </a:r>
                      <a:r>
                        <a:rPr/>
                        <a:t> </a:t>
                      </a:r>
                      <a:r>
                        <a:rPr/>
                        <a:t>le</a:t>
                      </a:r>
                      <a:r>
                        <a:rPr/>
                        <a:t> </a:t>
                      </a:r>
                      <a:r>
                        <a:rPr/>
                        <a:t>respect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parcours</a:t>
                      </a:r>
                      <a:r>
                        <a:rPr/>
                        <a:t> </a:t>
                      </a:r>
                      <a:r>
                        <a:rPr/>
                        <a:t>polyvalent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J’ai à cœur de m’intégrer dans la recherche à l’ADEF, dans l’enseignement à l’Inspé et dans le bain interdisciplinaire de Sfere-Provence.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g/alba-timelin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3035300"/>
            <a:ext cx="8229600" cy="1638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Audition pour un poste en didactique</dc:title>
  <dc:creator>Alba Marina MÁLAGA SABOGAL</dc:creator>
  <cp:keywords/>
  <dcterms:created xsi:type="dcterms:W3CDTF">2020-06-01T20:23:26Z</dcterms:created>
  <dcterms:modified xsi:type="dcterms:W3CDTF">2020-06-01T20:23:26Z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2020-06-02</vt:lpwstr>
  </property>
  <property fmtid="{D5CDD505-2E9C-101B-9397-08002B2CF9AE}" pid="3" name="header-includes">
    <vt:lpwstr>  </vt:lpwstr>
  </property>
  <property fmtid="{D5CDD505-2E9C-101B-9397-08002B2CF9AE}" pid="4" name="innertheme">
    <vt:lpwstr>circles</vt:lpwstr>
  </property>
  <property fmtid="{D5CDD505-2E9C-101B-9397-08002B2CF9AE}" pid="5" name="outertheme">
    <vt:lpwstr>infolines</vt:lpwstr>
  </property>
  <property fmtid="{D5CDD505-2E9C-101B-9397-08002B2CF9AE}" pid="6" name="section-titles">
    <vt:lpwstr>False</vt:lpwstr>
  </property>
  <property fmtid="{D5CDD505-2E9C-101B-9397-08002B2CF9AE}" pid="7" name="toc">
    <vt:lpwstr>True</vt:lpwstr>
  </property>
</Properties>
</file>