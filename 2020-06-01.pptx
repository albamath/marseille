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3" autoAdjust="0"/>
    <p:restoredTop sz="94711" autoAdjust="0"/>
  </p:normalViewPr>
  <p:slideViewPr>
    <p:cSldViewPr snapToGrid="0" snapToObjects="1">
      <p:cViewPr varScale="1">
        <p:scale>
          <a:sx n="84" d="100"/>
          <a:sy n="84" d="100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math.u-psud.fr/~pmassot/enseignement/math114/" TargetMode="External" 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3040/programme-ressources-et-evaluation.html" TargetMode="External" /><Relationship Id="rId3" Type="http://schemas.openxmlformats.org/officeDocument/2006/relationships/hyperlink" Target="https://eduscol.education.fr/pid34139/cycle-2-ecole-elementaire.html" TargetMode="External" /><Relationship Id="rId4" Type="http://schemas.openxmlformats.org/officeDocument/2006/relationships/hyperlink" Target="https://eduscol.education.fr/pid34150/cycle-3-ecole-elementaire-college.html" TargetMode="External" />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4150/cycle-3-ecole-elementaire-college.html" TargetMode="External" /><Relationship Id="rId3" Type="http://schemas.openxmlformats.org/officeDocument/2006/relationships/hyperlink" Target="https://eduscol.education.fr/pid34185/cycle-4-college.html" TargetMode="External" /><Relationship Id="rId4" Type="http://schemas.openxmlformats.org/officeDocument/2006/relationships/hyperlink" Target="https://eduscol.education.fr/pid38708/lycee-general-et-technologique-bac-2021.html" TargetMode="External" />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marL="0" indent="0">
              <a:buNone/>
            </a:pPr>
            <a:r>
              <a:rPr/>
              <a:t>Audition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un</a:t>
            </a:r>
            <a:r>
              <a:rPr/>
              <a:t> </a:t>
            </a:r>
            <a:r>
              <a:rPr/>
              <a:t>poste</a:t>
            </a:r>
            <a:r>
              <a:rPr/>
              <a:t> </a:t>
            </a:r>
            <a:r>
              <a:rPr/>
              <a:t>en</a:t>
            </a:r>
            <a:r>
              <a:rPr/>
              <a:t> </a:t>
            </a:r>
            <a:r>
              <a:rPr/>
              <a:t>didactique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marL="0" indent="0">
              <a:buNone/>
            </a:pPr>
            <a:br/>
            <a:br/>
            <a:r>
              <a:rPr/>
              <a:t>Alba</a:t>
            </a:r>
            <a:r>
              <a:rPr/>
              <a:t> </a:t>
            </a:r>
            <a:r>
              <a:rPr/>
              <a:t>Marina</a:t>
            </a:r>
            <a:r>
              <a:rPr/>
              <a:t> </a:t>
            </a:r>
            <a:r>
              <a:rPr/>
              <a:t>MÁLAGA</a:t>
            </a:r>
            <a:r>
              <a:rPr/>
              <a:t> </a:t>
            </a:r>
            <a:r>
              <a:rPr/>
              <a:t>SABOGAL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2020-06-02</a:t>
            </a:r>
            <a:r>
              <a:rPr/>
              <a:t> </a:t>
            </a:r>
            <a:r>
              <a:rPr/>
              <a:t>14:15:00</a:t>
            </a:r>
            <a:r>
              <a:rPr/>
              <a:t> </a:t>
            </a:r>
            <a:r>
              <a:rPr/>
              <a:t>+0200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l’ADEF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Quelques projets de recherche: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EAST: Rôle des artefacts dans l’efficacité de l’éducation scientifique et technologique</a:t>
            </a:r>
          </a:p>
          <a:p>
            <a:pPr lvl="0" marL="0" indent="0">
              <a:buNone/>
            </a:pPr>
            <a:r>
              <a:rPr/>
              <a:t>Axe thématique «outils et instruments pour l’enseignement».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Yupana Inca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Expérience d’initiation à l’addition et à la multiplication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L’impression 3D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Vecteur de compréhension de la géométrie.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spcBef>
                    <a:spcPts val="3000"/>
                  </a:spcBef>
                  <a:buNone/>
                </a:pPr>
                <a:r>
                  <a:rPr b="1"/>
                  <a:t>Le raisonnement mathématique avec 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 b="1"/>
                  <a:t>N</a:t>
                </a:r>
              </a:p>
              <a:p>
                <a:pPr lvl="0" marL="0" indent="0">
                  <a:buNone/>
                </a:pPr>
                <a:r>
                  <a:rPr/>
                  <a:t>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/>
                  <a:t>N: un assistant de preuves</a:t>
                </a:r>
              </a:p>
              <a:p>
                <a:pPr lvl="0" marL="0" indent="0">
                  <a:buNone/>
                </a:pPr>
                <a:r>
                  <a:rPr/>
                  <a:t>Partenariat avec le département de mathématiques d’Orsay (P. Massot).</a:t>
                </a:r>
              </a:p>
              <a:p>
                <a:pPr lvl="0" marL="0" indent="0">
                  <a:buNone/>
                </a:pPr>
                <a:r>
                  <a:rPr/>
                  <a:t>Données : </a:t>
                </a:r>
                <a:r>
                  <a:rPr>
                    <a:hlinkClick r:id="rId2"/>
                  </a:rPr>
                  <a:t>cours «Introduction aux mathématiques formalisées»</a:t>
                </a:r>
                <a:r>
                  <a:rPr/>
                  <a:t> en L1 Math-Info à la faculté des Sciences d’Orsay.</a:t>
                </a:r>
              </a:p>
              <a:p>
                <a:pPr lvl="0" marL="0" indent="0">
                  <a:buNone/>
                </a:pP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Mes compétences et les thématiques de l’ADEF</a:t>
            </a:r>
          </a:p>
          <a:p>
            <a:pPr lvl="0" marL="0" indent="0">
              <a:buNone/>
            </a:pPr>
            <a:r>
              <a:rPr/>
              <a:t>Je suis une «maker».</a:t>
            </a:r>
          </a:p>
          <a:p>
            <a:pPr lvl="0" marL="0" indent="0">
              <a:buNone/>
            </a:pPr>
            <a:r>
              <a:rPr/>
              <a:t>Je crée et j’étudie des objets mathématiques.</a:t>
            </a:r>
          </a:p>
          <a:p>
            <a:pPr lvl="0" marL="0" indent="0">
              <a:buNone/>
            </a:pPr>
            <a:r>
              <a:rPr/>
              <a:t>Ces objets peuvent devenir ensuite des instruments dans des situations d’enseignement -apprentissage.</a:t>
            </a:r>
          </a:p>
          <a:p>
            <a:pPr lvl="0" marL="0" indent="0">
              <a:buNone/>
            </a:pPr>
            <a:r>
              <a:rPr/>
              <a:t>Ces instruments, par la suite, seront générateurs de projets de recherche en didactique.</a:t>
            </a:r>
          </a:p>
          <a:p>
            <a:pPr lvl="0" marL="0" indent="0">
              <a:buNone/>
            </a:pPr>
            <a:r>
              <a:rPr/>
              <a:t>Par conséquent, l’équipe qui me correspond le mieux à l’ADEF est l’équipe EAST.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dini-alb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39800" y="1600200"/>
            <a:ext cx="72517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l’Inspé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Motivée par les questions éducatives</a:t>
            </a:r>
          </a:p>
          <a:p>
            <a:pPr lvl="1"/>
            <a:r>
              <a:rPr/>
              <a:t>suivi deux MOOC sur l’éducation</a:t>
            </a:r>
          </a:p>
          <a:p>
            <a:pPr lvl="2"/>
            <a:r>
              <a:rPr/>
              <a:t>eFan Maths session 2 (ESPÉ de Lyon et autres partenaires)</a:t>
            </a:r>
          </a:p>
          <a:p>
            <a:pPr lvl="3"/>
            <a:r>
              <a:rPr/>
              <a:t>projet «Objets mathématiques imprimés en 3D»</a:t>
            </a:r>
          </a:p>
          <a:p>
            <a:pPr lvl="2"/>
            <a:r>
              <a:rPr/>
              <a:t>Design and Development of Educational Technology (MIT)</a:t>
            </a:r>
          </a:p>
          <a:p>
            <a:pPr lvl="3"/>
            <a:r>
              <a:rPr/>
              <a:t>projet «Plagiarism prevention»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reussite-fun-ed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565400"/>
            <a:ext cx="8229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interactions avec des enseignants:</a:t>
            </a:r>
          </a:p>
          <a:p>
            <a:pPr lvl="2"/>
            <a:r>
              <a:rPr/>
              <a:t>salons et festivals</a:t>
            </a:r>
          </a:p>
          <a:p>
            <a:pPr lvl="2"/>
            <a:r>
              <a:rPr/>
              <a:t>fêtes de la science</a:t>
            </a:r>
          </a:p>
          <a:p>
            <a:pPr lvl="2"/>
            <a:r>
              <a:rPr/>
              <a:t>visites en classes</a:t>
            </a:r>
          </a:p>
          <a:p>
            <a:pPr lvl="2"/>
            <a:r>
              <a:rPr/>
              <a:t>et aussi dans les MOOC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spcBef>
                    <a:spcPts val="3000"/>
                  </a:spcBef>
                  <a:buNone/>
                </a:pPr>
                <a:r>
                  <a:rPr b="1"/>
                  <a:t>Formation des professeurs des écoles</a:t>
                </a:r>
              </a:p>
              <a:p>
                <a:pPr lvl="0" marL="0" indent="0">
                  <a:buNone/>
                </a:pPr>
                <a:r>
                  <a:rPr/>
                  <a:t>Trois étapes (programmes sur Eduscol):</a:t>
                </a:r>
              </a:p>
              <a:p>
                <a:pPr lvl="1"/>
                <a:r>
                  <a:rPr>
                    <a:hlinkClick r:id="rId2"/>
                  </a:rPr>
                  <a:t>cycle 1</a:t>
                </a:r>
                <a:r>
                  <a:rPr/>
                  <a:t> – apprentissages premiers</a:t>
                </a:r>
              </a:p>
              <a:p>
                <a:pPr lvl="1"/>
                <a:r>
                  <a:rPr>
                    <a:hlinkClick r:id="rId3"/>
                  </a:rPr>
                  <a:t>cycle 2</a:t>
                </a:r>
                <a:r>
                  <a:rPr/>
                  <a:t> – apprentissages fondamentaux</a:t>
                </a:r>
              </a:p>
              <a:p>
                <a:pPr lvl="1"/>
                <a:r>
                  <a:rPr>
                    <a:hlinkClick r:id="rId4"/>
                  </a:rPr>
                  <a:t>cycle 3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⅔</m:t>
                    </m:r>
                  </m:oMath>
                </a14:m>
                <a:r>
                  <a:rPr/>
                  <a:t>) – consolidation</a:t>
                </a:r>
              </a:p>
              <a:p>
                <a:pPr lvl="0" marL="0" indent="0">
                  <a:buNone/>
                </a:pPr>
                <a:r>
                  <a:rPr/>
                  <a:t>Formation professionnalisante donc équilibre entre:</a:t>
                </a:r>
              </a:p>
              <a:p>
                <a:pPr lvl="1"/>
                <a:r>
                  <a:rPr/>
                  <a:t>besoins du métier</a:t>
                </a:r>
              </a:p>
              <a:p>
                <a:pPr lvl="1"/>
                <a:r>
                  <a:rPr/>
                  <a:t>approche scientifique</a:t>
                </a:r>
              </a:p>
              <a:p>
                <a:pPr lvl="1"/>
                <a:r>
                  <a:rPr/>
                  <a:t>préparation aux concours</a:t>
                </a:r>
              </a:p>
              <a:p>
                <a:pPr lvl="0" marL="0" indent="0">
                  <a:buNone/>
                </a:pPr>
                <a:r>
                  <a:rPr/>
                  <a:t>Formation interdisciplinaire donc équilibre entre:</a:t>
                </a:r>
              </a:p>
              <a:p>
                <a:pPr lvl="1"/>
                <a:r>
                  <a:rPr/>
                  <a:t>s’assurer d’une maîtrise des mathématiques fondamentales</a:t>
                </a:r>
              </a:p>
              <a:p>
                <a:pPr lvl="1"/>
                <a:r>
                  <a:rPr/>
                  <a:t>former à un enseignement des mathématiques placées dans le monde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spcBef>
                    <a:spcPts val="3000"/>
                  </a:spcBef>
                  <a:buNone/>
                </a:pPr>
                <a:r>
                  <a:rPr b="1"/>
                  <a:t>Formation des professeurs certifiés</a:t>
                </a:r>
              </a:p>
              <a:p>
                <a:pPr lvl="0" marL="0" indent="0">
                  <a:buNone/>
                </a:pPr>
                <a:r>
                  <a:rPr/>
                  <a:t>Collège: - </a:t>
                </a:r>
                <a:r>
                  <a:rPr>
                    <a:hlinkClick r:id="rId2"/>
                  </a:rPr>
                  <a:t>cycle 3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⅓</m:t>
                    </m:r>
                  </m:oMath>
                </a14:m>
                <a:r>
                  <a:rPr/>
                  <a:t>) – consolidation - </a:t>
                </a:r>
                <a:r>
                  <a:rPr>
                    <a:hlinkClick r:id="rId3"/>
                  </a:rPr>
                  <a:t>cycle 4</a:t>
                </a:r>
                <a:r>
                  <a:rPr/>
                  <a:t> – approfondissements</a:t>
                </a:r>
              </a:p>
              <a:p>
                <a:pPr lvl="0" marL="0" indent="0">
                  <a:buNone/>
                </a:pPr>
                <a:r>
                  <a:rPr>
                    <a:hlinkClick r:id="rId4"/>
                  </a:rPr>
                  <a:t>Lycée général et technologique</a:t>
                </a:r>
              </a:p>
              <a:p>
                <a:pPr lvl="0" marL="0" indent="0">
                  <a:buNone/>
                </a:pPr>
                <a:r>
                  <a:rPr/>
                  <a:t>Formation professionnalisante donc équilibre entre:</a:t>
                </a:r>
              </a:p>
              <a:p>
                <a:pPr lvl="1"/>
                <a:r>
                  <a:rPr/>
                  <a:t>besoins du métier</a:t>
                </a:r>
              </a:p>
              <a:p>
                <a:pPr lvl="1"/>
                <a:r>
                  <a:rPr/>
                  <a:t>approche scientifique</a:t>
                </a:r>
              </a:p>
              <a:p>
                <a:pPr lvl="1"/>
                <a:r>
                  <a:rPr/>
                  <a:t>préparation aux concours</a:t>
                </a:r>
              </a:p>
              <a:p>
                <a:pPr lvl="0" marL="0" indent="0">
                  <a:buNone/>
                </a:pPr>
                <a:r>
                  <a:rPr/>
                  <a:t>Formation interdisciplinaire donc équilibre entre:</a:t>
                </a:r>
              </a:p>
              <a:p>
                <a:pPr lvl="1"/>
                <a:r>
                  <a:rPr/>
                  <a:t>s’assurer d’une maîtrise des mathématiques fondamentales</a:t>
                </a:r>
              </a:p>
              <a:p>
                <a:pPr lvl="1"/>
                <a:r>
                  <a:rPr/>
                  <a:t>former à un enseignement des mathématiques qui aident à comprendre le monde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Mise en relation entre mon parcours et la formation des enseignants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Mon</a:t>
                      </a:r>
                      <a:r>
                        <a:rPr/>
                        <a:t> </a:t>
                      </a:r>
                      <a:r>
                        <a:rPr/>
                        <a:t>parcours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Applications</a:t>
                      </a:r>
                      <a:r>
                        <a:rPr/>
                        <a:t> </a:t>
                      </a:r>
                      <a:r>
                        <a:rPr/>
                        <a:t>à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formation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enseignants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Usages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classe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conception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Créer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documents</a:t>
                      </a:r>
                      <a:r>
                        <a:rPr/>
                        <a:t> </a:t>
                      </a:r>
                      <a:r>
                        <a:rPr/>
                        <a:t>accessibles</a:t>
                      </a:r>
                      <a:r>
                        <a:rPr/>
                        <a:t> </a:t>
                      </a:r>
                      <a:r>
                        <a:rPr/>
                        <a:t>pour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élèves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Prise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compte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fracture</a:t>
                      </a:r>
                      <a:r>
                        <a:rPr/>
                        <a:t> </a:t>
                      </a:r>
                      <a:r>
                        <a:rPr/>
                        <a:t>numérique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Esprit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L’armoire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l’enseignant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mathématiques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Informations</a:t>
                      </a:r>
                      <a:r>
                        <a:rPr/>
                        <a:t> </a:t>
                      </a:r>
                      <a:r>
                        <a:rPr/>
                        <a:t>sur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évenements,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milieu,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ressources,…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Propositions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SFERE-Provence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Projets de recherche</a:t>
            </a:r>
          </a:p>
          <a:p>
            <a:pPr lvl="0" marL="0" indent="0">
              <a:buNone/>
            </a:pPr>
            <a:r>
              <a:rPr/>
              <a:t>Les projets de recherche déjà présentés: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pourraient bénéficier d’une collaboration dans Sfere au-delà de l’ADEF, par exemple avec l’I2M et l’IREM de Marseille.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Colloques et rencontres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Expérience</a:t>
            </a:r>
          </a:p>
          <a:p>
            <a:pPr lvl="0" marL="0" indent="0">
              <a:buNone/>
            </a:pPr>
            <a:r>
              <a:rPr/>
              <a:t>2015: Médiation scientifique et plateformes de partage</a:t>
            </a:r>
            <a:br/>
            <a:r>
              <a:rPr/>
              <a:t>2020: Outils logiciels pour les mathématiques et l’illustration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Propositions</a:t>
            </a:r>
          </a:p>
          <a:p>
            <a:pPr lvl="1"/>
            <a:r>
              <a:rPr/>
              <a:t>Rencontre interrogeant la médiation, ses usages et ses effets</a:t>
            </a:r>
          </a:p>
          <a:p>
            <a:pPr lvl="2"/>
            <a:r>
              <a:rPr/>
              <a:t>suite du projet 1.3. cartographie de la relation entre l’éducation, la médiation, les expériences artistique et scientifique et le développement de la personne, 2018</a:t>
            </a:r>
          </a:p>
          <a:p>
            <a:pPr lvl="1"/>
            <a:r>
              <a:rPr/>
              <a:t>Ateliers Software Carpentry</a:t>
            </a:r>
          </a:p>
          <a:p>
            <a:pPr lvl="2"/>
            <a:r>
              <a:rPr/>
              <a:t>formation à des compétences informatiques pour la recherche.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Médiation scientifique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vieux-port-alba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00200"/>
            <a:ext cx="6794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Une autre exposition Imaginary à Marseille</a:t>
            </a:r>
            <a:br/>
            <a:r>
              <a:rPr/>
              <a:t>avec une approche de recherche didactique.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Questions?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continuité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ouverture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recherche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un</a:t>
                      </a:r>
                      <a:r>
                        <a:rPr/>
                        <a:t> </a:t>
                      </a:r>
                      <a:r>
                        <a:rPr/>
                        <a:t>vrai</a:t>
                      </a:r>
                      <a:r>
                        <a:rPr/>
                        <a:t> </a:t>
                      </a:r>
                      <a:r>
                        <a:rPr/>
                        <a:t>souci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fibre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intérêt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enseignement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respect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parcours</a:t>
                      </a:r>
                      <a:r>
                        <a:rPr/>
                        <a:t> </a:t>
                      </a:r>
                      <a:r>
                        <a:rPr/>
                        <a:t>polyvalent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J’ai à cœur de m’intégrer dans la recherche à l’ADEF, dans l’enseignement à l’Inspé et dans le bain interdisciplinaire de Sfere-Provence.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alba-tim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3035300"/>
            <a:ext cx="82296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Audition pour un poste en didactique</dc:title>
  <dc:creator>Alba Marina MÁLAGA SABOGAL</dc:creator>
  <cp:keywords/>
  <dcterms:created xsi:type="dcterms:W3CDTF">2020-06-01T10:16:09Z</dcterms:created>
  <dcterms:modified xsi:type="dcterms:W3CDTF">2020-06-01T10:16:09Z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2020-06-02 14:15:00 +0200</vt:lpwstr>
  </property>
  <property fmtid="{D5CDD505-2E9C-101B-9397-08002B2CF9AE}" pid="3" name="header-includes">
    <vt:lpwstr/>
  </property>
  <property fmtid="{D5CDD505-2E9C-101B-9397-08002B2CF9AE}" pid="4" name="innertheme">
    <vt:lpwstr>circles</vt:lpwstr>
  </property>
  <property fmtid="{D5CDD505-2E9C-101B-9397-08002B2CF9AE}" pid="5" name="outertheme">
    <vt:lpwstr>infolines</vt:lpwstr>
  </property>
</Properties>
</file>