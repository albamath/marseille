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6"/>
    <p:restoredTop sz="94631"/>
  </p:normalViewPr>
  <p:slideViewPr>
    <p:cSldViewPr snapToGrid="0" snapToObjects="1">
      <p:cViewPr varScale="1">
        <p:scale>
          <a:sx n="97" d="100"/>
          <a:sy n="97" d="100"/>
        </p:scale>
        <p:origin x="55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overEmb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6012" y="1904999"/>
            <a:ext cx="6938963" cy="1582271"/>
          </a:xfrm>
        </p:spPr>
        <p:txBody>
          <a:bodyPr anchor="b" anchorCtr="0"/>
          <a:lstStyle>
            <a:lvl1pPr>
              <a:lnSpc>
                <a:spcPct val="95000"/>
              </a:lnSpc>
              <a:defRPr sz="6600"/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6013" y="3487271"/>
            <a:ext cx="6938961" cy="1143000"/>
          </a:xfrm>
        </p:spPr>
        <p:txBody>
          <a:bodyPr/>
          <a:lstStyle>
            <a:lvl1pPr marL="0" indent="0" algn="ctr">
              <a:spcBef>
                <a:spcPts val="300"/>
              </a:spcBef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07741" y="5715000"/>
            <a:ext cx="2133600" cy="275478"/>
          </a:xfrm>
        </p:spPr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628EAFA9-7502-42D3-9B79-C38E938C236F}" type="datetimeFigureOut">
              <a:rPr lang="en-US" smtClean="0"/>
              <a:t>2/13/20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2659" y="5715000"/>
            <a:ext cx="2895600" cy="275478"/>
          </a:xfrm>
        </p:spPr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5715000"/>
            <a:ext cx="457200" cy="275478"/>
          </a:xfrm>
        </p:spPr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2D57B0AA-AC8E-4463-ADAC-E87D09B82E4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coverAccent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686766"/>
            <a:ext cx="7315200" cy="400705"/>
          </a:xfrm>
          <a:prstGeom prst="rect">
            <a:avLst/>
          </a:prstGeom>
        </p:spPr>
      </p:pic>
      <p:pic>
        <p:nvPicPr>
          <p:cNvPr id="10" name="Picture 9" descr="coverAccent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619136"/>
            <a:ext cx="7315200" cy="391386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EAFA9-7502-42D3-9B79-C38E938C236F}" type="datetimeFigureOut">
              <a:rPr lang="en-US" smtClean="0"/>
              <a:t>2/13/20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7B0AA-AC8E-4463-ADAC-E87D09B82E4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 descr="pageAccent-Ful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5313" y="1689847"/>
            <a:ext cx="7953375" cy="3048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e de titre avec imag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overEmb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2519" y="4038600"/>
            <a:ext cx="6938963" cy="1174376"/>
          </a:xfrm>
        </p:spPr>
        <p:txBody>
          <a:bodyPr anchor="b" anchorCtr="0">
            <a:noAutofit/>
          </a:bodyPr>
          <a:lstStyle>
            <a:lvl1pPr>
              <a:lnSpc>
                <a:spcPct val="95000"/>
              </a:lnSpc>
              <a:defRPr sz="5200"/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2520" y="5212977"/>
            <a:ext cx="6938961" cy="77544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07741" y="6214969"/>
            <a:ext cx="2133600" cy="275478"/>
          </a:xfrm>
        </p:spPr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628EAFA9-7502-42D3-9B79-C38E938C236F}" type="datetimeFigureOut">
              <a:rPr lang="en-US" smtClean="0"/>
              <a:t>2/13/20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2659" y="6214969"/>
            <a:ext cx="2895600" cy="275478"/>
          </a:xfrm>
        </p:spPr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6214969"/>
            <a:ext cx="457200" cy="275478"/>
          </a:xfrm>
        </p:spPr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2D57B0AA-AC8E-4463-ADAC-E87D09B82E4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coverAccent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15801"/>
            <a:ext cx="7315200" cy="400705"/>
          </a:xfrm>
          <a:prstGeom prst="rect">
            <a:avLst/>
          </a:prstGeom>
        </p:spPr>
      </p:pic>
      <p:sp>
        <p:nvSpPr>
          <p:cNvPr id="11" name="Picture Placeholder 2"/>
          <p:cNvSpPr>
            <a:spLocks noGrp="1"/>
          </p:cNvSpPr>
          <p:nvPr>
            <p:ph type="pic" idx="13"/>
          </p:nvPr>
        </p:nvSpPr>
        <p:spPr>
          <a:xfrm>
            <a:off x="1188720" y="1004455"/>
            <a:ext cx="6766560" cy="2729345"/>
          </a:xfrm>
          <a:solidFill>
            <a:schemeClr val="bg2"/>
          </a:solidFill>
          <a:ln w="127000">
            <a:solidFill>
              <a:schemeClr val="tx1"/>
            </a:solidFill>
            <a:miter lim="800000"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Faire glisser l'image vers l'espace réservé ou cliquer sur l'icône pour l'ajouter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6012" y="1904998"/>
            <a:ext cx="6938964" cy="1582271"/>
          </a:xfr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012" y="3487271"/>
            <a:ext cx="6938960" cy="114300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SzPct val="100000"/>
              <a:buFont typeface="Wingdings" pitchFamily="2" charset="2"/>
              <a:buNone/>
              <a:defRPr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EAFA9-7502-42D3-9B79-C38E938C236F}" type="datetimeFigureOut">
              <a:rPr lang="en-US" smtClean="0"/>
              <a:t>2/13/20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7B0AA-AC8E-4463-ADAC-E87D09B82E4F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SectionAccentTop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618488"/>
            <a:ext cx="7315200" cy="356382"/>
          </a:xfrm>
          <a:prstGeom prst="rect">
            <a:avLst/>
          </a:prstGeom>
          <a:noFill/>
        </p:spPr>
      </p:pic>
      <p:pic>
        <p:nvPicPr>
          <p:cNvPr id="1027" name="Picture 3" descr="SectionAccentBottom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400" y="4690872"/>
            <a:ext cx="7315200" cy="35638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pageAccent-Ful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5313" y="1689847"/>
            <a:ext cx="7953375" cy="3048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084293"/>
            <a:ext cx="3429000" cy="3639312"/>
          </a:xfrm>
        </p:spPr>
        <p:txBody>
          <a:bodyPr>
            <a:normAutofit/>
          </a:bodyPr>
          <a:lstStyle>
            <a:lvl1pPr marL="282575" indent="-282575">
              <a:defRPr sz="2000"/>
            </a:lvl1pPr>
            <a:lvl2pPr marL="573088" indent="-282575">
              <a:defRPr sz="1800"/>
            </a:lvl2pPr>
            <a:lvl3pPr marL="855663" indent="-282575">
              <a:defRPr sz="1800"/>
            </a:lvl3pPr>
            <a:lvl4pPr marL="1146175" indent="-282575">
              <a:defRPr sz="1800"/>
            </a:lvl4pPr>
            <a:lvl5pPr marL="1430338" indent="-282575">
              <a:defRPr sz="1800"/>
            </a:lvl5pPr>
            <a:lvl6pPr marL="1712913" indent="-282575">
              <a:defRPr sz="1800"/>
            </a:lvl6pPr>
            <a:lvl7pPr marL="2003425" indent="-282575">
              <a:defRPr sz="1800"/>
            </a:lvl7pPr>
            <a:lvl8pPr marL="2286000" indent="-282575">
              <a:defRPr sz="1800"/>
            </a:lvl8pPr>
            <a:lvl9pPr marL="2568575" indent="-282575"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6106" y="2084293"/>
            <a:ext cx="3429000" cy="3639312"/>
          </a:xfrm>
        </p:spPr>
        <p:txBody>
          <a:bodyPr>
            <a:normAutofit/>
          </a:bodyPr>
          <a:lstStyle>
            <a:lvl1pPr marL="282575" indent="-282575">
              <a:defRPr sz="2000"/>
            </a:lvl1pPr>
            <a:lvl2pPr marL="573088" indent="-282575">
              <a:defRPr sz="1800"/>
            </a:lvl2pPr>
            <a:lvl3pPr marL="855663" indent="-282575">
              <a:defRPr sz="1800"/>
            </a:lvl3pPr>
            <a:lvl4pPr marL="1146175" indent="-282575">
              <a:defRPr sz="1800"/>
            </a:lvl4pPr>
            <a:lvl5pPr marL="1430338" indent="-282575">
              <a:defRPr sz="1800"/>
            </a:lvl5pPr>
            <a:lvl6pPr marL="1712913" indent="-282575">
              <a:defRPr sz="1800"/>
            </a:lvl6pPr>
            <a:lvl7pPr marL="2005013" indent="-282575">
              <a:defRPr sz="1800"/>
            </a:lvl7pPr>
            <a:lvl8pPr marL="2287588" indent="-282575">
              <a:defRPr sz="1800"/>
            </a:lvl8pPr>
            <a:lvl9pPr marL="2568575" indent="-280988"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EAFA9-7502-42D3-9B79-C38E938C236F}" type="datetimeFigureOut">
              <a:rPr lang="en-US" smtClean="0"/>
              <a:t>2/13/20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7B0AA-AC8E-4463-ADAC-E87D09B82E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pageAccent-Ful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5313" y="1689847"/>
            <a:ext cx="7953375" cy="3048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1100" y="1839913"/>
            <a:ext cx="2743200" cy="903287"/>
          </a:xfrm>
        </p:spPr>
        <p:txBody>
          <a:bodyPr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971800"/>
            <a:ext cx="3429000" cy="2751804"/>
          </a:xfrm>
        </p:spPr>
        <p:txBody>
          <a:bodyPr>
            <a:normAutofit/>
          </a:bodyPr>
          <a:lstStyle>
            <a:lvl1pPr marL="282575" indent="-282575">
              <a:defRPr sz="1800"/>
            </a:lvl1pPr>
            <a:lvl2pPr marL="573088" indent="-282575">
              <a:defRPr sz="1800"/>
            </a:lvl2pPr>
            <a:lvl3pPr marL="855663" indent="-282575">
              <a:defRPr sz="1800"/>
            </a:lvl3pPr>
            <a:lvl4pPr marL="1146175" indent="-282575">
              <a:defRPr sz="1800"/>
            </a:lvl4pPr>
            <a:lvl5pPr marL="1430338" indent="-284163">
              <a:defRPr sz="1800"/>
            </a:lvl5pPr>
            <a:lvl6pPr marL="1712913" indent="-282575">
              <a:defRPr sz="1600"/>
            </a:lvl6pPr>
            <a:lvl7pPr marL="2003425" indent="-282575">
              <a:defRPr sz="1600"/>
            </a:lvl7pPr>
            <a:lvl8pPr marL="2286000" indent="-282575">
              <a:defRPr sz="1600"/>
            </a:lvl8pPr>
            <a:lvl9pPr marL="2568575" indent="-282575"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69006" y="1839913"/>
            <a:ext cx="2743200" cy="903287"/>
          </a:xfrm>
        </p:spPr>
        <p:txBody>
          <a:bodyPr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6106" y="2971800"/>
            <a:ext cx="3429000" cy="2751804"/>
          </a:xfrm>
        </p:spPr>
        <p:txBody>
          <a:bodyPr>
            <a:normAutofit/>
          </a:bodyPr>
          <a:lstStyle>
            <a:lvl1pPr marL="282575" indent="-282575">
              <a:defRPr sz="1800"/>
            </a:lvl1pPr>
            <a:lvl2pPr marL="573088" indent="-282575">
              <a:defRPr sz="1800"/>
            </a:lvl2pPr>
            <a:lvl3pPr marL="855663" indent="-282575">
              <a:defRPr sz="1800"/>
            </a:lvl3pPr>
            <a:lvl4pPr marL="1146175" indent="-282575">
              <a:defRPr sz="1800"/>
            </a:lvl4pPr>
            <a:lvl5pPr marL="1430338" indent="-282575">
              <a:defRPr sz="1800"/>
            </a:lvl5pPr>
            <a:lvl6pPr marL="1712913" indent="-282575">
              <a:defRPr sz="1600"/>
            </a:lvl6pPr>
            <a:lvl7pPr marL="2003425" indent="-282575">
              <a:defRPr sz="1600"/>
            </a:lvl7pPr>
            <a:lvl8pPr marL="2286000" indent="-282575">
              <a:defRPr sz="1600"/>
            </a:lvl8pPr>
            <a:lvl9pPr marL="2568575" indent="-282575"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EAFA9-7502-42D3-9B79-C38E938C236F}" type="datetimeFigureOut">
              <a:rPr lang="en-US" smtClean="0"/>
              <a:t>2/13/20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7B0AA-AC8E-4463-ADAC-E87D09B82E4F}" type="slidenum">
              <a:rPr lang="en-US" smtClean="0"/>
              <a:t>‹#›</a:t>
            </a:fld>
            <a:endParaRPr lang="en-US"/>
          </a:p>
        </p:txBody>
      </p:sp>
      <p:pic>
        <p:nvPicPr>
          <p:cNvPr id="2050" name="Picture 2" descr="comparisonRule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47775" y="2686050"/>
            <a:ext cx="2609850" cy="133350"/>
          </a:xfrm>
          <a:prstGeom prst="rect">
            <a:avLst/>
          </a:prstGeom>
          <a:noFill/>
        </p:spPr>
      </p:pic>
      <p:pic>
        <p:nvPicPr>
          <p:cNvPr id="12" name="Picture 2" descr="comparisonRule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5681" y="2686050"/>
            <a:ext cx="2609850" cy="13335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pageAccent-Ful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5313" y="1689847"/>
            <a:ext cx="7953375" cy="3048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EAFA9-7502-42D3-9B79-C38E938C236F}" type="datetimeFigureOut">
              <a:rPr lang="en-US" smtClean="0"/>
              <a:t>2/13/20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7B0AA-AC8E-4463-ADAC-E87D09B82E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EAFA9-7502-42D3-9B79-C38E938C236F}" type="datetimeFigureOut">
              <a:rPr lang="en-US" smtClean="0"/>
              <a:t>2/13/20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7B0AA-AC8E-4463-ADAC-E87D09B82E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14400"/>
            <a:ext cx="3429000" cy="1371600"/>
          </a:xfrm>
        </p:spPr>
        <p:txBody>
          <a:bodyPr anchor="b">
            <a:noAutofit/>
          </a:bodyPr>
          <a:lstStyle>
            <a:lvl1pPr algn="ctr">
              <a:defRPr sz="3600" b="0"/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6106" y="914400"/>
            <a:ext cx="3429000" cy="4815841"/>
          </a:xfrm>
        </p:spPr>
        <p:txBody>
          <a:bodyPr>
            <a:normAutofit/>
          </a:bodyPr>
          <a:lstStyle>
            <a:lvl1pPr marL="341313" indent="-341313">
              <a:defRPr sz="2200"/>
            </a:lvl1pPr>
            <a:lvl2pPr marL="631825" indent="-284163">
              <a:defRPr sz="2000"/>
            </a:lvl2pPr>
            <a:lvl3pPr marL="914400" indent="-284163">
              <a:defRPr sz="1800"/>
            </a:lvl3pPr>
            <a:lvl4pPr marL="1196975" indent="-284163">
              <a:defRPr sz="1800"/>
            </a:lvl4pPr>
            <a:lvl5pPr marL="1487488" indent="-284163">
              <a:defRPr sz="1800"/>
            </a:lvl5pPr>
            <a:lvl6pPr marL="1770063" indent="-284163">
              <a:defRPr sz="1800"/>
            </a:lvl6pPr>
            <a:lvl7pPr marL="2060575" indent="-284163">
              <a:defRPr sz="1800"/>
            </a:lvl7pPr>
            <a:lvl8pPr marL="2344738" indent="-284163">
              <a:defRPr sz="1800"/>
            </a:lvl8pPr>
            <a:lvl9pPr marL="2627313" indent="-284163"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667001"/>
            <a:ext cx="3429000" cy="2895600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EAFA9-7502-42D3-9B79-C38E938C236F}" type="datetimeFigureOut">
              <a:rPr lang="en-US" smtClean="0"/>
              <a:t>2/13/20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7B0AA-AC8E-4463-ADAC-E87D09B82E4F}" type="slidenum">
              <a:rPr lang="en-US" smtClean="0"/>
              <a:t>‹#›</a:t>
            </a:fld>
            <a:endParaRPr lang="en-US"/>
          </a:p>
        </p:txBody>
      </p:sp>
      <p:pic>
        <p:nvPicPr>
          <p:cNvPr id="3074" name="Picture 2" descr="captionAccent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2326341"/>
            <a:ext cx="3429000" cy="240307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scrollwork-Top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flipH="1">
            <a:off x="4754083" y="673398"/>
            <a:ext cx="742950" cy="361950"/>
          </a:xfrm>
          <a:prstGeom prst="rect">
            <a:avLst/>
          </a:prstGeom>
          <a:noFill/>
        </p:spPr>
      </p:pic>
      <p:pic>
        <p:nvPicPr>
          <p:cNvPr id="15" name="Picture 3" descr="scrollwork-Bottom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flipH="1">
            <a:off x="4754083" y="5636584"/>
            <a:ext cx="742950" cy="361950"/>
          </a:xfrm>
          <a:prstGeom prst="rect">
            <a:avLst/>
          </a:prstGeom>
          <a:noFill/>
        </p:spPr>
      </p:pic>
      <p:pic>
        <p:nvPicPr>
          <p:cNvPr id="4099" name="Picture 3" descr="scrollwork-Bottom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74169" y="5636584"/>
            <a:ext cx="742950" cy="361950"/>
          </a:xfrm>
          <a:prstGeom prst="rect">
            <a:avLst/>
          </a:prstGeom>
          <a:noFill/>
        </p:spPr>
      </p:pic>
      <p:pic>
        <p:nvPicPr>
          <p:cNvPr id="4098" name="Picture 2" descr="scrollwork-Top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74169" y="673398"/>
            <a:ext cx="742950" cy="36195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14400"/>
            <a:ext cx="3429000" cy="1371600"/>
          </a:xfr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36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081121" y="914400"/>
            <a:ext cx="3108960" cy="4815841"/>
          </a:xfrm>
          <a:solidFill>
            <a:schemeClr val="bg2"/>
          </a:solidFill>
          <a:ln w="127000">
            <a:solidFill>
              <a:schemeClr val="bg1"/>
            </a:solidFill>
            <a:miter lim="800000"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Faire glisser l'image vers l'espace réservé ou cliquer sur l'icône pour l'ajouter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667001"/>
            <a:ext cx="3429000" cy="289560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Bef>
                <a:spcPts val="500"/>
              </a:spcBef>
              <a:buNone/>
              <a:defRPr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spcBef>
                <a:spcPts val="600"/>
              </a:spcBef>
              <a:buSzPct val="100000"/>
              <a:buFont typeface="Wingdings" pitchFamily="2" charset="2"/>
              <a:buNone/>
            </a:pPr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EAFA9-7502-42D3-9B79-C38E938C236F}" type="datetimeFigureOut">
              <a:rPr lang="en-US" smtClean="0"/>
              <a:t>2/13/20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7B0AA-AC8E-4463-ADAC-E87D09B82E4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captionAccent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8200" y="2326341"/>
            <a:ext cx="3429000" cy="240307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u-dessus de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scrollwork-Top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flipH="1">
            <a:off x="1752600" y="565897"/>
            <a:ext cx="742950" cy="361950"/>
          </a:xfrm>
          <a:prstGeom prst="rect">
            <a:avLst/>
          </a:prstGeom>
          <a:noFill/>
        </p:spPr>
      </p:pic>
      <p:pic>
        <p:nvPicPr>
          <p:cNvPr id="15" name="Picture 3" descr="scrollwork-Bottom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flipH="1">
            <a:off x="1752600" y="4128247"/>
            <a:ext cx="742950" cy="361950"/>
          </a:xfrm>
          <a:prstGeom prst="rect">
            <a:avLst/>
          </a:prstGeom>
          <a:noFill/>
        </p:spPr>
      </p:pic>
      <p:pic>
        <p:nvPicPr>
          <p:cNvPr id="4099" name="Picture 3" descr="scrollwork-Bottom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48450" y="4128247"/>
            <a:ext cx="742950" cy="361950"/>
          </a:xfrm>
          <a:prstGeom prst="rect">
            <a:avLst/>
          </a:prstGeom>
          <a:noFill/>
        </p:spPr>
      </p:pic>
      <p:pic>
        <p:nvPicPr>
          <p:cNvPr id="4098" name="Picture 2" descr="scrollwork-Top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48450" y="565897"/>
            <a:ext cx="742950" cy="36195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60" y="4406153"/>
            <a:ext cx="6583680" cy="784412"/>
          </a:xfr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36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0" y="780826"/>
            <a:ext cx="4572000" cy="3467548"/>
          </a:xfrm>
          <a:solidFill>
            <a:schemeClr val="bg2"/>
          </a:solidFill>
          <a:ln w="127000">
            <a:solidFill>
              <a:schemeClr val="bg1"/>
            </a:solidFill>
            <a:miter lim="800000"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Faire glisser l'image vers l'espace réservé ou cliquer sur l'icône pour l'ajouter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5446059"/>
            <a:ext cx="7543800" cy="60960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Bef>
                <a:spcPts val="0"/>
              </a:spcBef>
              <a:buNone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spcBef>
                <a:spcPts val="600"/>
              </a:spcBef>
              <a:buSzPct val="100000"/>
              <a:buFont typeface="Wingdings" pitchFamily="2" charset="2"/>
              <a:buNone/>
            </a:pPr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EAFA9-7502-42D3-9B79-C38E938C236F}" type="datetimeFigureOut">
              <a:rPr lang="en-US" smtClean="0"/>
              <a:t>2/13/20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7B0AA-AC8E-4463-ADAC-E87D09B82E4F}" type="slidenum">
              <a:rPr lang="en-US" smtClean="0"/>
              <a:t>‹#›</a:t>
            </a:fld>
            <a:endParaRPr lang="en-US"/>
          </a:p>
        </p:txBody>
      </p:sp>
      <p:pic>
        <p:nvPicPr>
          <p:cNvPr id="6146" name="Picture 2" descr="captionLongAccent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90650" y="5204012"/>
            <a:ext cx="6362700" cy="24765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 images au-dessus de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3" descr="scrollwork-Bottom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flipH="1">
            <a:off x="993402" y="4128247"/>
            <a:ext cx="742950" cy="361950"/>
          </a:xfrm>
          <a:prstGeom prst="rect">
            <a:avLst/>
          </a:prstGeom>
          <a:noFill/>
        </p:spPr>
      </p:pic>
      <p:pic>
        <p:nvPicPr>
          <p:cNvPr id="4099" name="Picture 3" descr="scrollwork-Bottom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07649" y="4128247"/>
            <a:ext cx="742950" cy="361950"/>
          </a:xfrm>
          <a:prstGeom prst="rect">
            <a:avLst/>
          </a:prstGeom>
          <a:noFill/>
        </p:spPr>
      </p:pic>
      <p:pic>
        <p:nvPicPr>
          <p:cNvPr id="12" name="Picture 2" descr="scrollwork-Top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flipH="1">
            <a:off x="993402" y="565897"/>
            <a:ext cx="742950" cy="361950"/>
          </a:xfrm>
          <a:prstGeom prst="rect">
            <a:avLst/>
          </a:prstGeom>
          <a:noFill/>
        </p:spPr>
      </p:pic>
      <p:pic>
        <p:nvPicPr>
          <p:cNvPr id="4098" name="Picture 2" descr="scrollwork-Top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07649" y="565897"/>
            <a:ext cx="742950" cy="36195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60" y="4406153"/>
            <a:ext cx="6583680" cy="784412"/>
          </a:xfr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36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24000" y="780826"/>
            <a:ext cx="2743200" cy="3467548"/>
          </a:xfrm>
          <a:solidFill>
            <a:schemeClr val="bg2"/>
          </a:solidFill>
          <a:ln w="127000">
            <a:solidFill>
              <a:schemeClr val="bg1"/>
            </a:solidFill>
            <a:miter lim="800000"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Faire glisser l'image vers l'espace réservé ou cliquer sur l'icône pour l'ajouter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5446059"/>
            <a:ext cx="7543800" cy="60960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Bef>
                <a:spcPts val="0"/>
              </a:spcBef>
              <a:buNone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spcBef>
                <a:spcPts val="600"/>
              </a:spcBef>
              <a:buSzPct val="100000"/>
              <a:buFont typeface="Wingdings" pitchFamily="2" charset="2"/>
              <a:buNone/>
            </a:pPr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EAFA9-7502-42D3-9B79-C38E938C236F}" type="datetimeFigureOut">
              <a:rPr lang="en-US" smtClean="0"/>
              <a:t>2/13/20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7B0AA-AC8E-4463-ADAC-E87D09B82E4F}" type="slidenum">
              <a:rPr lang="en-US" smtClean="0"/>
              <a:t>‹#›</a:t>
            </a:fld>
            <a:endParaRPr lang="en-US"/>
          </a:p>
        </p:txBody>
      </p:sp>
      <p:pic>
        <p:nvPicPr>
          <p:cNvPr id="6146" name="Picture 2" descr="captionLongAccent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90650" y="5204012"/>
            <a:ext cx="6362700" cy="247650"/>
          </a:xfrm>
          <a:prstGeom prst="rect">
            <a:avLst/>
          </a:prstGeom>
          <a:noFill/>
        </p:spPr>
      </p:pic>
      <p:sp>
        <p:nvSpPr>
          <p:cNvPr id="14" name="Picture Placeholder 2"/>
          <p:cNvSpPr>
            <a:spLocks noGrp="1"/>
          </p:cNvSpPr>
          <p:nvPr>
            <p:ph type="pic" idx="13"/>
          </p:nvPr>
        </p:nvSpPr>
        <p:spPr>
          <a:xfrm>
            <a:off x="4912659" y="780826"/>
            <a:ext cx="2743200" cy="3467548"/>
          </a:xfrm>
          <a:solidFill>
            <a:schemeClr val="bg2"/>
          </a:solidFill>
          <a:ln w="127000">
            <a:solidFill>
              <a:schemeClr val="bg1"/>
            </a:solidFill>
            <a:miter lim="800000"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Faire glisser l'image vers l'espace réservé ou cliquer sur l'icône pour l'ajouter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pageAccent-Ful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5313" y="1689847"/>
            <a:ext cx="7953375" cy="3048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084294"/>
            <a:ext cx="7543800" cy="3639670"/>
          </a:xfrm>
        </p:spPr>
        <p:txBody>
          <a:bodyPr vert="eaVert"/>
          <a:lstStyle>
            <a:lvl5pPr>
              <a:defRPr/>
            </a:lvl5pPr>
            <a:lvl6pPr marL="2286000">
              <a:defRPr/>
            </a:lvl6pPr>
            <a:lvl7pPr marL="2286000">
              <a:defRPr/>
            </a:lvl7pPr>
            <a:lvl8pPr marL="2286000">
              <a:defRPr/>
            </a:lvl8pPr>
            <a:lvl9pPr marL="2286000">
              <a:defRPr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EAFA9-7502-42D3-9B79-C38E938C236F}" type="datetimeFigureOut">
              <a:rPr lang="en-US" smtClean="0"/>
              <a:t>2/13/20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7B0AA-AC8E-4463-ADAC-E87D09B82E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6600" y="922048"/>
            <a:ext cx="1676400" cy="4814888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922048"/>
            <a:ext cx="5638800" cy="4814888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EAFA9-7502-42D3-9B79-C38E938C236F}" type="datetimeFigureOut">
              <a:rPr lang="en-US" smtClean="0"/>
              <a:t>2/13/20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7B0AA-AC8E-4463-ADAC-E87D09B82E4F}" type="slidenum">
              <a:rPr lang="en-US" smtClean="0"/>
              <a:t>‹#›</a:t>
            </a:fld>
            <a:endParaRPr lang="en-US"/>
          </a:p>
        </p:txBody>
      </p:sp>
      <p:pic>
        <p:nvPicPr>
          <p:cNvPr id="5122" name="Picture 2" descr="verticalAccent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26225" y="860612"/>
            <a:ext cx="247364" cy="493776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nteriorEdging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0100" y="381000"/>
            <a:ext cx="75438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84294"/>
            <a:ext cx="6949440" cy="36396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3200" y="6118412"/>
            <a:ext cx="2133600" cy="2754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628EAFA9-7502-42D3-9B79-C38E938C236F}" type="datetimeFigureOut">
              <a:rPr lang="en-US" smtClean="0"/>
              <a:t>2/13/20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18412"/>
            <a:ext cx="2895600" cy="2754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43400" y="6118412"/>
            <a:ext cx="457200" cy="2754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2D57B0AA-AC8E-4463-ADAC-E87D09B82E4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5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spcBef>
          <a:spcPts val="2000"/>
        </a:spcBef>
        <a:buSzPct val="100000"/>
        <a:buFont typeface="Wingdings" pitchFamily="2" charset="2"/>
        <a:buChar char="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1500"/>
        </a:spcBef>
        <a:buClr>
          <a:schemeClr val="tx1">
            <a:lumMod val="60000"/>
            <a:lumOff val="40000"/>
          </a:schemeClr>
        </a:buClr>
        <a:buSzPct val="100000"/>
        <a:buFont typeface="Wingdings" pitchFamily="2" charset="2"/>
        <a:buChar char="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457200" algn="l" defTabSz="914400" rtl="0" eaLnBrk="1" latinLnBrk="0" hangingPunct="1">
        <a:spcBef>
          <a:spcPts val="1500"/>
        </a:spcBef>
        <a:buSzPct val="100000"/>
        <a:buFont typeface="Wingdings" pitchFamily="2" charset="2"/>
        <a:buChar char="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indent="-457200" algn="l" defTabSz="914400" rtl="0" eaLnBrk="1" latinLnBrk="0" hangingPunct="1">
        <a:spcBef>
          <a:spcPts val="1500"/>
        </a:spcBef>
        <a:buClr>
          <a:schemeClr val="tx1">
            <a:lumMod val="60000"/>
            <a:lumOff val="40000"/>
          </a:schemeClr>
        </a:buClr>
        <a:buSzPct val="100000"/>
        <a:buFont typeface="Wingdings" pitchFamily="2" charset="2"/>
        <a:buChar char="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286000" indent="-457200" algn="l" defTabSz="914400" rtl="0" eaLnBrk="1" latinLnBrk="0" hangingPunct="1">
        <a:spcBef>
          <a:spcPts val="1500"/>
        </a:spcBef>
        <a:buSzPct val="100000"/>
        <a:buFont typeface="Wingdings" pitchFamily="2" charset="2"/>
        <a:buChar char="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indent="-457200" algn="l" defTabSz="914400" rtl="0" eaLnBrk="1" latinLnBrk="0" hangingPunct="1">
        <a:spcBef>
          <a:spcPts val="1500"/>
        </a:spcBef>
        <a:buClr>
          <a:schemeClr val="tx1">
            <a:lumMod val="60000"/>
            <a:lumOff val="40000"/>
          </a:schemeClr>
        </a:buClr>
        <a:buSzPct val="100000"/>
        <a:buFont typeface="Wingdings" pitchFamily="2" charset="2"/>
        <a:buChar char="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200400" indent="-457200" algn="l" defTabSz="914400" rtl="0" eaLnBrk="1" latinLnBrk="0" hangingPunct="1">
        <a:spcBef>
          <a:spcPts val="1500"/>
        </a:spcBef>
        <a:buSzPct val="100000"/>
        <a:buFont typeface="Wingdings" pitchFamily="2" charset="2"/>
        <a:buChar char=""/>
        <a:tabLst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657600" indent="-457200" algn="l" defTabSz="914400" rtl="0" eaLnBrk="1" latinLnBrk="0" hangingPunct="1">
        <a:spcBef>
          <a:spcPts val="1500"/>
        </a:spcBef>
        <a:buClr>
          <a:schemeClr val="tx1">
            <a:lumMod val="60000"/>
            <a:lumOff val="40000"/>
          </a:schemeClr>
        </a:buClr>
        <a:buSzPct val="100000"/>
        <a:buFont typeface="Wingdings" pitchFamily="2" charset="2"/>
        <a:buChar char=""/>
        <a:tabLst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4114800" indent="-457200" algn="l" defTabSz="914400" rtl="0" eaLnBrk="1" latinLnBrk="0" hangingPunct="1">
        <a:spcBef>
          <a:spcPts val="1500"/>
        </a:spcBef>
        <a:buSzPct val="100000"/>
        <a:buFont typeface="Wingdings" pitchFamily="2" charset="2"/>
        <a:buChar char=""/>
        <a:tabLst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16012" y="2511777"/>
            <a:ext cx="6938963" cy="1582271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Le master MEEF et les maths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96800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00100" y="381000"/>
            <a:ext cx="7543800" cy="1030111"/>
          </a:xfrm>
        </p:spPr>
        <p:txBody>
          <a:bodyPr>
            <a:normAutofit/>
          </a:bodyPr>
          <a:lstStyle/>
          <a:p>
            <a:r>
              <a:rPr lang="fr-FR" dirty="0" smtClean="0"/>
              <a:t>Portage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1886737"/>
            <a:ext cx="6949440" cy="4491485"/>
          </a:xfrm>
        </p:spPr>
        <p:txBody>
          <a:bodyPr>
            <a:normAutofit fontScale="85000" lnSpcReduction="10000"/>
          </a:bodyPr>
          <a:lstStyle/>
          <a:p>
            <a:r>
              <a:rPr lang="fr-FR" dirty="0" smtClean="0"/>
              <a:t>Les masters MEEF = Métiers de l’Enseignement, de l’Éducation et de la Formation, sont portés par l’Institut National Supérieur du Professorat et de l’Éducation (</a:t>
            </a:r>
            <a:r>
              <a:rPr lang="fr-FR" dirty="0" err="1" smtClean="0"/>
              <a:t>Inspé</a:t>
            </a:r>
            <a:r>
              <a:rPr lang="fr-FR" dirty="0" smtClean="0"/>
              <a:t>) de l’académie de Versailles. Les 5 universités de l’académie de Versailles en sont partenaires.</a:t>
            </a:r>
          </a:p>
          <a:p>
            <a:r>
              <a:rPr lang="fr-FR" dirty="0" smtClean="0"/>
              <a:t>Il y a 4 mentions, dont</a:t>
            </a:r>
          </a:p>
          <a:p>
            <a:r>
              <a:rPr lang="fr-FR" dirty="0" smtClean="0"/>
              <a:t>- MEEF 1 : 1</a:t>
            </a:r>
            <a:r>
              <a:rPr lang="fr-FR" baseline="30000" dirty="0" smtClean="0"/>
              <a:t>er</a:t>
            </a:r>
            <a:r>
              <a:rPr lang="fr-FR" dirty="0" smtClean="0"/>
              <a:t> degré, formation des professeurs d’écoles.</a:t>
            </a:r>
          </a:p>
          <a:p>
            <a:r>
              <a:rPr lang="fr-FR" dirty="0" smtClean="0"/>
              <a:t>- MEEF 2 : 2</a:t>
            </a:r>
            <a:r>
              <a:rPr lang="fr-FR" baseline="30000" dirty="0" smtClean="0"/>
              <a:t>nd</a:t>
            </a:r>
            <a:r>
              <a:rPr lang="fr-FR" dirty="0" smtClean="0"/>
              <a:t> degré, formation des professeurs des lycées et collèges.</a:t>
            </a:r>
          </a:p>
          <a:p>
            <a:r>
              <a:rPr lang="fr-FR" dirty="0" smtClean="0"/>
              <a:t>La formation des profs de maths constitue un parcours de la mention MEEF 2, commun avec Cergy et Evry (</a:t>
            </a:r>
            <a:r>
              <a:rPr lang="fr-FR" dirty="0" err="1" smtClean="0"/>
              <a:t>resp</a:t>
            </a:r>
            <a:r>
              <a:rPr lang="fr-FR" dirty="0" smtClean="0"/>
              <a:t>. A. </a:t>
            </a:r>
            <a:r>
              <a:rPr lang="fr-FR" dirty="0" err="1" smtClean="0"/>
              <a:t>Broise</a:t>
            </a:r>
            <a:r>
              <a:rPr lang="fr-FR" dirty="0" smtClean="0"/>
              <a:t>).</a:t>
            </a:r>
          </a:p>
          <a:p>
            <a:r>
              <a:rPr lang="fr-FR" dirty="0" smtClean="0"/>
              <a:t>Les préparations à l’agrégation relèvent des masters disciplinaires, et non des master MEEF.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03299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Les intentions de la loi de 2019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2084293"/>
            <a:ext cx="6949440" cy="4223373"/>
          </a:xfrm>
        </p:spPr>
        <p:txBody>
          <a:bodyPr>
            <a:normAutofit fontScale="85000" lnSpcReduction="20000"/>
          </a:bodyPr>
          <a:lstStyle/>
          <a:p>
            <a:r>
              <a:rPr lang="fr-FR" dirty="0" smtClean="0"/>
              <a:t>Continuum de formation : découverte progressive du métier avec préprofessionnalisation dès le L2, formation initiale universitaire M1 avec stage et M2 en alternance, formation continuée des néo-titulaires. Préprofessionnalisation consolidée : observation/devoirs faits en L2, </a:t>
            </a:r>
            <a:r>
              <a:rPr lang="fr-FR" dirty="0" err="1" smtClean="0"/>
              <a:t>co</a:t>
            </a:r>
            <a:r>
              <a:rPr lang="fr-FR" dirty="0" smtClean="0"/>
              <a:t>-intervention en L3, enseignement en M1.</a:t>
            </a:r>
          </a:p>
          <a:p>
            <a:r>
              <a:rPr lang="fr-FR" dirty="0" smtClean="0"/>
              <a:t>Tentative de préciser les prérequis à l’entrée en master et les compétences à acquérir en master.</a:t>
            </a:r>
          </a:p>
          <a:p>
            <a:r>
              <a:rPr lang="fr-FR" dirty="0" smtClean="0"/>
              <a:t>Exigence : le prof doit être autonome, il doit savoir analyser sa pratique et l’améliorer.</a:t>
            </a:r>
          </a:p>
          <a:p>
            <a:r>
              <a:rPr lang="fr-FR" dirty="0" smtClean="0"/>
              <a:t>1/3 de la formation assurée par des profs en exercice.</a:t>
            </a:r>
          </a:p>
          <a:p>
            <a:r>
              <a:rPr lang="fr-FR" dirty="0" smtClean="0"/>
              <a:t>Volet international.</a:t>
            </a:r>
          </a:p>
          <a:p>
            <a:r>
              <a:rPr lang="fr-FR" dirty="0" smtClean="0"/>
              <a:t>Placer le concours à la fin de la formation initiale.</a:t>
            </a:r>
          </a:p>
          <a:p>
            <a:endParaRPr lang="fr-FR" dirty="0" smtClean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33841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7777062"/>
              </p:ext>
            </p:extLst>
          </p:nvPr>
        </p:nvGraphicFramePr>
        <p:xfrm>
          <a:off x="222834" y="0"/>
          <a:ext cx="8735636" cy="6780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540"/>
                <a:gridCol w="4449096"/>
              </a:tblGrid>
              <a:tr h="548349">
                <a:tc>
                  <a:txBody>
                    <a:bodyPr/>
                    <a:lstStyle/>
                    <a:p>
                      <a:pPr algn="l" fontAlgn="b"/>
                      <a:r>
                        <a:rPr lang="fr-FR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Jusqu'en 2020-2021</a:t>
                      </a: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À partir de 2021-2022</a:t>
                      </a:r>
                    </a:p>
                  </a:txBody>
                  <a:tcPr marL="12700" marR="12700" marT="12700" marB="0" anchor="b"/>
                </a:tc>
              </a:tr>
              <a:tr h="548349">
                <a:tc>
                  <a:txBody>
                    <a:bodyPr/>
                    <a:lstStyle/>
                    <a:p>
                      <a:pPr algn="l" fontAlgn="t"/>
                      <a:r>
                        <a:rPr lang="sk-SK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2700" marR="12700" marT="1270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sk-SK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2700" marR="12700" marT="12700" marB="0"/>
                </a:tc>
              </a:tr>
              <a:tr h="548349">
                <a:tc>
                  <a:txBody>
                    <a:bodyPr/>
                    <a:lstStyle/>
                    <a:p>
                      <a:pPr algn="l" fontAlgn="t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Emplois d'Avenir Professeur</a:t>
                      </a:r>
                    </a:p>
                  </a:txBody>
                  <a:tcPr marL="12700" marR="12700" marT="1270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Préprofessionnalisation : statut </a:t>
                      </a:r>
                      <a:r>
                        <a:rPr lang="fr-FR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d’Assistant </a:t>
                      </a:r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d'Éducation</a:t>
                      </a:r>
                    </a:p>
                  </a:txBody>
                  <a:tcPr marL="12700" marR="12700" marT="12700" marB="0"/>
                </a:tc>
              </a:tr>
              <a:tr h="548349">
                <a:tc>
                  <a:txBody>
                    <a:bodyPr/>
                    <a:lstStyle/>
                    <a:p>
                      <a:pPr algn="l" fontAlgn="t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1000 étudiants de L2 à M1</a:t>
                      </a:r>
                    </a:p>
                  </a:txBody>
                  <a:tcPr marL="12700" marR="12700" marT="1270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3000 étudiants de L2 à M1</a:t>
                      </a:r>
                    </a:p>
                  </a:txBody>
                  <a:tcPr marL="12700" marR="12700" marT="12700" marB="0"/>
                </a:tc>
              </a:tr>
              <a:tr h="548349">
                <a:tc>
                  <a:txBody>
                    <a:bodyPr/>
                    <a:lstStyle/>
                    <a:p>
                      <a:pPr algn="l" fontAlgn="t"/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dans les </a:t>
                      </a:r>
                      <a:r>
                        <a:rPr lang="fr-FR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disciplines </a:t>
                      </a:r>
                      <a:r>
                        <a:rPr lang="fr-FR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déficitaires (maths </a:t>
                      </a:r>
                      <a:r>
                        <a:rPr lang="fr-FR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!) </a:t>
                      </a:r>
                      <a:r>
                        <a:rPr lang="fr-FR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pour le 2</a:t>
                      </a:r>
                      <a:r>
                        <a:rPr lang="fr-FR" sz="2000" b="0" i="0" u="none" strike="noStrike" baseline="3000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nd</a:t>
                      </a:r>
                      <a:r>
                        <a:rPr lang="fr-FR" sz="2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degré </a:t>
                      </a:r>
                      <a:r>
                        <a:rPr lang="fr-FR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et  dans les académies </a:t>
                      </a:r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déficitaires </a:t>
                      </a:r>
                      <a:r>
                        <a:rPr lang="fr-FR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en </a:t>
                      </a:r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  <a:r>
                        <a:rPr lang="fr-FR" sz="20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er</a:t>
                      </a:r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fr-FR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degré</a:t>
                      </a:r>
                      <a:endParaRPr lang="fr-F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dans les disciplines déficitaires (maths !) pour le 2</a:t>
                      </a:r>
                      <a:r>
                        <a:rPr lang="fr-FR" sz="2000" b="0" i="0" u="none" strike="noStrike" baseline="3000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nd</a:t>
                      </a:r>
                      <a:r>
                        <a:rPr lang="fr-FR" sz="2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degré </a:t>
                      </a:r>
                      <a:r>
                        <a:rPr lang="fr-FR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et  dans les académies déficitaires en 1</a:t>
                      </a:r>
                      <a:r>
                        <a:rPr lang="fr-FR" sz="2000" b="0" i="0" u="none" strike="noStrike" baseline="3000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er</a:t>
                      </a:r>
                      <a:r>
                        <a:rPr lang="fr-FR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degré</a:t>
                      </a:r>
                    </a:p>
                  </a:txBody>
                  <a:tcPr marL="12700" marR="12700" marT="12700" marB="0"/>
                </a:tc>
              </a:tr>
              <a:tr h="548349">
                <a:tc>
                  <a:txBody>
                    <a:bodyPr/>
                    <a:lstStyle/>
                    <a:p>
                      <a:pPr algn="l" fontAlgn="t"/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Concours en M1</a:t>
                      </a:r>
                    </a:p>
                  </a:txBody>
                  <a:tcPr marL="12700" marR="12700" marT="1270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Concours en M2</a:t>
                      </a:r>
                    </a:p>
                  </a:txBody>
                  <a:tcPr marL="12700" marR="12700" marT="12700" marB="0"/>
                </a:tc>
              </a:tr>
              <a:tr h="548349">
                <a:tc>
                  <a:txBody>
                    <a:bodyPr/>
                    <a:lstStyle/>
                    <a:p>
                      <a:pPr algn="l" fontAlgn="t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En M1, 4 semaines de stage</a:t>
                      </a:r>
                    </a:p>
                  </a:txBody>
                  <a:tcPr marL="12700" marR="12700" marT="1270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En M1, 8 semaines de stage</a:t>
                      </a:r>
                    </a:p>
                  </a:txBody>
                  <a:tcPr marL="12700" marR="12700" marT="12700" marB="0"/>
                </a:tc>
              </a:tr>
              <a:tr h="559616">
                <a:tc>
                  <a:txBody>
                    <a:bodyPr/>
                    <a:lstStyle/>
                    <a:p>
                      <a:pPr algn="l" fontAlgn="t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En M2, alternance</a:t>
                      </a:r>
                    </a:p>
                  </a:txBody>
                  <a:tcPr marL="12700" marR="12700" marT="1270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En M2, alternance 12 semaines ou stage </a:t>
                      </a:r>
                      <a:r>
                        <a:rPr lang="fr-FR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en association 8 </a:t>
                      </a:r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à 12 semaines</a:t>
                      </a:r>
                    </a:p>
                  </a:txBody>
                  <a:tcPr marL="12700" marR="12700" marT="12700" marB="0"/>
                </a:tc>
              </a:tr>
              <a:tr h="548349">
                <a:tc>
                  <a:txBody>
                    <a:bodyPr/>
                    <a:lstStyle/>
                    <a:p>
                      <a:pPr algn="l" fontAlgn="t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Nombre d'admis en M2 déterminé par le concours</a:t>
                      </a:r>
                    </a:p>
                  </a:txBody>
                  <a:tcPr marL="12700" marR="12700" marT="1270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Nombre d'alternants déterminé par les rectorats</a:t>
                      </a:r>
                    </a:p>
                  </a:txBody>
                  <a:tcPr marL="12700" marR="12700" marT="12700" marB="0"/>
                </a:tc>
              </a:tr>
              <a:tr h="548349">
                <a:tc>
                  <a:txBody>
                    <a:bodyPr/>
                    <a:lstStyle/>
                    <a:p>
                      <a:pPr algn="l" fontAlgn="t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Les M2 sont fonctionnaires stagiaires</a:t>
                      </a:r>
                    </a:p>
                  </a:txBody>
                  <a:tcPr marL="12700" marR="12700" marT="1270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Les M2 </a:t>
                      </a:r>
                      <a:r>
                        <a:rPr lang="fr-FR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en alternance sont</a:t>
                      </a:r>
                      <a:r>
                        <a:rPr lang="fr-FR" sz="2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rémunérés à tiers-temps annualisé</a:t>
                      </a:r>
                      <a:endParaRPr lang="fr-F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/>
                </a:tc>
              </a:tr>
              <a:tr h="559616">
                <a:tc>
                  <a:txBody>
                    <a:bodyPr/>
                    <a:lstStyle/>
                    <a:p>
                      <a:pPr algn="l" fontAlgn="t"/>
                      <a:r>
                        <a:rPr lang="fr-FR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À l'issue du M2, titularisation (ou non)</a:t>
                      </a:r>
                    </a:p>
                  </a:txBody>
                  <a:tcPr marL="12700" marR="12700" marT="1270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Première année comme fonctionnaire stagiaire, formation continuée</a:t>
                      </a:r>
                    </a:p>
                  </a:txBody>
                  <a:tcPr marL="12700" marR="12700" marT="1270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2878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Questions en suspens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7280" y="2084294"/>
            <a:ext cx="6949440" cy="4138706"/>
          </a:xfrm>
        </p:spPr>
        <p:txBody>
          <a:bodyPr>
            <a:normAutofit fontScale="85000" lnSpcReduction="20000"/>
          </a:bodyPr>
          <a:lstStyle/>
          <a:p>
            <a:r>
              <a:rPr lang="fr-FR" dirty="0" smtClean="0"/>
              <a:t>Conditions exactes du stage de 8 semaines en M1. Un stage aussi long (le rectorat parle de 3 semaines massées et 15 semaines à 1 jour/semaine) déconcentre les étudiants.</a:t>
            </a:r>
          </a:p>
          <a:p>
            <a:r>
              <a:rPr lang="fr-FR" dirty="0" smtClean="0"/>
              <a:t>Stages en associations en M2 : quel cadrage ? Quelle gratification ?</a:t>
            </a:r>
          </a:p>
          <a:p>
            <a:r>
              <a:rPr lang="fr-FR" dirty="0" smtClean="0"/>
              <a:t>Détails sur la formation continuée après le concours : les titulaires d’un M2 MEEF auraient un emploi à plein temps donc très peu de formation.</a:t>
            </a:r>
          </a:p>
          <a:p>
            <a:r>
              <a:rPr lang="fr-FR" dirty="0" smtClean="0"/>
              <a:t>Coût de la formation continuée : pour les titulaires d’autres masters</a:t>
            </a:r>
            <a:r>
              <a:rPr lang="fr-FR" dirty="0"/>
              <a:t> </a:t>
            </a:r>
            <a:r>
              <a:rPr lang="fr-FR" dirty="0" smtClean="0"/>
              <a:t>ou reconversions, il serait entièrement à la charge des universités, qui délivreront un DU (2 jours/semaine).</a:t>
            </a:r>
          </a:p>
          <a:p>
            <a:r>
              <a:rPr lang="fr-FR" dirty="0" smtClean="0"/>
              <a:t>Comment convaincre les licenciés de maths de rejoindre un M1 MEEF très peu attractif ?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81076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Modalités transitoires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En 2020-2021, concours en M1. Peu </a:t>
            </a:r>
            <a:r>
              <a:rPr lang="fr-FR" dirty="0"/>
              <a:t>de changement </a:t>
            </a:r>
            <a:r>
              <a:rPr lang="fr-FR" dirty="0" smtClean="0"/>
              <a:t>: grande place accordée à la préparation en M1, alternance pour les M2.</a:t>
            </a:r>
          </a:p>
          <a:p>
            <a:r>
              <a:rPr lang="fr-FR" dirty="0" smtClean="0"/>
              <a:t>En 2021-2022 : concours en M2. Nouvelle maquette en M1. En M2, nouvelle maquette pour les </a:t>
            </a:r>
            <a:r>
              <a:rPr lang="fr-FR" dirty="0" err="1" smtClean="0"/>
              <a:t>primants</a:t>
            </a:r>
            <a:r>
              <a:rPr lang="fr-FR" dirty="0" smtClean="0"/>
              <a:t>, ancienne maquette pour les lauréats du concours 2021.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22090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Infographie_exemples_parcours_enseignant_1206589.189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476" y="-1382889"/>
            <a:ext cx="5424020" cy="8231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871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nfographie_Formation_Inspe_115027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0"/>
            <a:ext cx="48517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592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fficiel">
  <a:themeElements>
    <a:clrScheme name="Formal">
      <a:dk1>
        <a:srgbClr val="534239"/>
      </a:dk1>
      <a:lt1>
        <a:srgbClr val="FFFFFF"/>
      </a:lt1>
      <a:dk2>
        <a:srgbClr val="3D3A48"/>
      </a:dk2>
      <a:lt2>
        <a:srgbClr val="E1DFD1"/>
      </a:lt2>
      <a:accent1>
        <a:srgbClr val="907F76"/>
      </a:accent1>
      <a:accent2>
        <a:srgbClr val="A46645"/>
      </a:accent2>
      <a:accent3>
        <a:srgbClr val="CD9C47"/>
      </a:accent3>
      <a:accent4>
        <a:srgbClr val="9A92CD"/>
      </a:accent4>
      <a:accent5>
        <a:srgbClr val="7D639B"/>
      </a:accent5>
      <a:accent6>
        <a:srgbClr val="733678"/>
      </a:accent6>
      <a:hlink>
        <a:srgbClr val="A84914"/>
      </a:hlink>
      <a:folHlink>
        <a:srgbClr val="B25672"/>
      </a:folHlink>
    </a:clrScheme>
    <a:fontScheme name="Formal">
      <a:majorFont>
        <a:latin typeface="Garamond"/>
        <a:ea typeface=""/>
        <a:cs typeface=""/>
        <a:font script="Jpan" typeface="ヒラギノ明朝 Pro W3"/>
        <a:font script="Hans" typeface="宋体"/>
        <a:font script="Hant" typeface="新細明體"/>
      </a:majorFont>
      <a:minorFont>
        <a:latin typeface="Garamond"/>
        <a:ea typeface=""/>
        <a:cs typeface=""/>
        <a:font script="Jpan" typeface="ヒラギノ明朝 Pro W3"/>
        <a:font script="Hans" typeface="宋体"/>
        <a:font script="Hant" typeface="新細明體"/>
      </a:minorFont>
    </a:fontScheme>
    <a:fmtScheme name="Formal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0000"/>
                <a:satMod val="200000"/>
              </a:schemeClr>
              <a:schemeClr val="phClr">
                <a:shade val="90000"/>
                <a:satMod val="150000"/>
              </a:schemeClr>
            </a:duotone>
          </a:blip>
          <a:tile tx="0" ty="0" sx="50000" sy="5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80000"/>
                <a:satMod val="135000"/>
              </a:schemeClr>
              <a:schemeClr val="phClr">
                <a:shade val="80000"/>
                <a:satMod val="150000"/>
              </a:schemeClr>
            </a:duotone>
          </a:blip>
          <a:tile tx="0" ty="0" sx="65000" sy="65000" flip="none" algn="tl"/>
        </a:blip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>
              <a:shade val="90000"/>
              <a:alpha val="90000"/>
            </a:schemeClr>
          </a:solidFill>
          <a:prstDash val="solid"/>
          <a:miter/>
        </a:ln>
        <a:ln w="38100" cap="flat" cmpd="sng" algn="ctr">
          <a:solidFill>
            <a:schemeClr val="phClr">
              <a:shade val="85000"/>
              <a:alpha val="90000"/>
              <a:satMod val="125000"/>
            </a:schemeClr>
          </a:solidFill>
          <a:prstDash val="solid"/>
          <a:miter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88900" dist="38100" dir="5400000" sx="101000" sy="101000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morning" dir="t">
              <a:rot lat="0" lon="0" rev="6000000"/>
            </a:lightRig>
          </a:scene3d>
          <a:sp3d prstMaterial="metal">
            <a:bevelT w="25400" h="12700" prst="artDeco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3">
            <a:duotone>
              <a:schemeClr val="phClr">
                <a:tint val="50000"/>
                <a:satMod val="250000"/>
              </a:schemeClr>
              <a:schemeClr val="phClr">
                <a:shade val="80000"/>
                <a:satMod val="175000"/>
              </a:schemeClr>
            </a:duotone>
          </a:blip>
          <a:stretch/>
        </a:blipFill>
        <a:blipFill rotWithShape="1">
          <a:blip xmlns:r="http://schemas.openxmlformats.org/officeDocument/2006/relationships" r:embed="rId4">
            <a:duotone>
              <a:schemeClr val="phClr">
                <a:tint val="10000"/>
                <a:satMod val="260000"/>
                <a:lumMod val="115000"/>
              </a:schemeClr>
              <a:schemeClr val="phClr">
                <a:shade val="75000"/>
                <a:satMod val="175000"/>
                <a:lumMod val="105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Officiel.thmx</Template>
  <TotalTime>242</TotalTime>
  <Words>565</Words>
  <Application>Microsoft Macintosh PowerPoint</Application>
  <PresentationFormat>Présentation à l'écran (4:3)</PresentationFormat>
  <Paragraphs>46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Calibri</vt:lpstr>
      <vt:lpstr>Garamond</vt:lpstr>
      <vt:lpstr>Wingdings</vt:lpstr>
      <vt:lpstr>Officiel</vt:lpstr>
      <vt:lpstr>Le master MEEF et les maths</vt:lpstr>
      <vt:lpstr>Portage</vt:lpstr>
      <vt:lpstr>Les intentions de la loi de 2019 </vt:lpstr>
      <vt:lpstr>Présentation PowerPoint</vt:lpstr>
      <vt:lpstr>Questions en suspens</vt:lpstr>
      <vt:lpstr>Modalités transitoires</vt:lpstr>
      <vt:lpstr>Présentation PowerPoint</vt:lpstr>
      <vt:lpstr>Présentation PowerPoint</vt:lpstr>
    </vt:vector>
  </TitlesOfParts>
  <Company>Universite Paris Sud bat 425</Company>
  <LinksUpToDate>false</LinksUpToDate>
  <SharedDoc>false</SharedDoc>
  <HyperlinksChanged>false</HyperlinksChanged>
  <AppVersion>15.0037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master MEEF et les maths</dc:title>
  <dc:creator>Pierre Pansu</dc:creator>
  <cp:lastModifiedBy>Utilisateur de Microsoft Office</cp:lastModifiedBy>
  <cp:revision>28</cp:revision>
  <dcterms:created xsi:type="dcterms:W3CDTF">2020-02-09T20:16:25Z</dcterms:created>
  <dcterms:modified xsi:type="dcterms:W3CDTF">2020-02-13T08:49:28Z</dcterms:modified>
</cp:coreProperties>
</file>