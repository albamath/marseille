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</a:t>
                </a:r>
              </a:p>
              <a:p>
                <a:pPr lvl="0" marL="0" indent="0">
                  <a:buNone/>
                </a:pPr>
                <a:r>
                  <a:rPr/>
                  <a:t>Partenariat avec le département de mathématiques d’Orsay (P. Massot).</a:t>
                </a:r>
              </a:p>
              <a:p>
                <a:pPr lvl="0" marL="0" indent="0">
                  <a:buNone/>
                </a:pPr>
                <a:r>
                  <a:rPr/>
                  <a:t>Données : </a:t>
                </a:r>
                <a:r>
                  <a:rPr>
                    <a:hlinkClick r:id="rId2"/>
                  </a:rPr>
                  <a:t>cours «Introduction aux mathématiques formalisées»</a:t>
                </a:r>
                <a:r>
                  <a:rPr/>
                  <a:t> en L1 Math-Info à la faculté des Sciences d’Orsay.</a:t>
                </a:r>
              </a:p>
              <a:p>
                <a:pPr lvl="0" marL="0" indent="0">
                  <a:buNone/>
                </a:pP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  <a:p>
            <a:pPr lvl="0" marL="0" indent="0">
              <a:buNone/>
            </a:pPr>
            <a:r>
              <a:rPr/>
              <a:t>Je suis maker.</a:t>
            </a:r>
          </a:p>
          <a:p>
            <a:pPr lvl="0" marL="0" indent="0">
              <a:buNone/>
            </a:pPr>
            <a:r>
              <a:rPr/>
              <a:t>Je crée et j’étudie des objets mathématiques.</a:t>
            </a:r>
          </a:p>
          <a:p>
            <a:pPr lvl="0" marL="0" indent="0">
              <a:buNone/>
            </a:pPr>
            <a:r>
              <a:rPr/>
              <a:t>Ces objets peuvent devenir ensuite des instruments dans des situations d’enseignement -apprentissage.</a:t>
            </a:r>
          </a:p>
          <a:p>
            <a:pPr lvl="0" marL="0" indent="0">
              <a:buNone/>
            </a:pPr>
            <a:r>
              <a:rPr/>
              <a:t>Ces instruments, par la suite, seront générateurs de projets de recherche en didactique.</a:t>
            </a:r>
          </a:p>
          <a:p>
            <a:pPr lvl="0" marL="0" indent="0">
              <a:buNone/>
            </a:pPr>
            <a:r>
              <a:rPr/>
              <a:t>Par conséquent, l’équipe qui me correspond le mieux à l’ADEF est l’équipe EAST.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ini-alb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600200"/>
            <a:ext cx="72517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reussite-fun-ed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565400"/>
            <a:ext cx="8229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Formation des professeurs des écoles</a:t>
                </a:r>
              </a:p>
              <a:p>
                <a:pPr lvl="0" marL="0" indent="0">
                  <a:buNone/>
                </a:pPr>
                <a:r>
                  <a:rPr/>
                  <a:t>Trois étapes (programmes sur Eduscol):</a:t>
                </a:r>
              </a:p>
              <a:p>
                <a:pPr lvl="1"/>
                <a:r>
                  <a:rPr>
                    <a:hlinkClick r:id="rId2"/>
                  </a:rPr>
                  <a:t>cycle 1</a:t>
                </a:r>
                <a:r>
                  <a:rPr/>
                  <a:t> – apprentissages premiers</a:t>
                </a:r>
              </a:p>
              <a:p>
                <a:pPr lvl="1"/>
                <a:r>
                  <a:rPr>
                    <a:hlinkClick r:id="rId3"/>
                  </a:rPr>
                  <a:t>cycle 2</a:t>
                </a:r>
                <a:r>
                  <a:rPr/>
                  <a:t> – apprentissages fondamentaux</a:t>
                </a:r>
              </a:p>
              <a:p>
                <a:pPr lvl="1"/>
                <a:r>
                  <a:rPr>
                    <a:hlinkClick r:id="rId4"/>
                  </a:rPr>
                  <a:t>cycle 3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⅔</m:t>
                    </m:r>
                  </m:oMath>
                </a14:m>
                <a:r>
                  <a:rPr/>
                  <a:t>) – consolidation</a:t>
                </a:r>
              </a:p>
              <a:p>
                <a:pPr lvl="0" marL="0" indent="0">
                  <a:buNone/>
                </a:pPr>
                <a:r>
                  <a:rPr/>
                  <a:t>Formation professionnalisante donc équilibre entre:</a:t>
                </a:r>
              </a:p>
              <a:p>
                <a:pPr lvl="1"/>
                <a:r>
                  <a:rPr/>
                  <a:t>besoins du métier</a:t>
                </a:r>
              </a:p>
              <a:p>
                <a:pPr lvl="1"/>
                <a:r>
                  <a:rPr/>
                  <a:t>approche scientifique</a:t>
                </a:r>
              </a:p>
              <a:p>
                <a:pPr lvl="1"/>
                <a:r>
                  <a:rPr/>
                  <a:t>préparation aux concours</a:t>
                </a:r>
              </a:p>
              <a:p>
                <a:pPr lvl="0" marL="0" indent="0">
                  <a:buNone/>
                </a:pPr>
                <a:r>
                  <a:rPr/>
                  <a:t>Formation interdisciplinaire donc équilibre entre:</a:t>
                </a:r>
              </a:p>
              <a:p>
                <a:pPr lvl="1"/>
                <a:r>
                  <a:rPr/>
                  <a:t>s’assurer d’une maîtrise des mathématiques fondamentales</a:t>
                </a:r>
              </a:p>
              <a:p>
                <a:pPr lvl="1"/>
                <a:r>
                  <a:rPr/>
                  <a:t>former à un enseignement des mathématiques placées dans le monde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Formation des professeurs certifiés</a:t>
                </a:r>
              </a:p>
              <a:p>
                <a:pPr lvl="0" marL="0" indent="0">
                  <a:buNone/>
                </a:pPr>
                <a:r>
                  <a:rPr/>
                  <a:t>Collège: - </a:t>
                </a:r>
                <a:r>
                  <a:rPr>
                    <a:hlinkClick r:id="rId2"/>
                  </a:rPr>
                  <a:t>cycle 3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⅓</m:t>
                    </m:r>
                  </m:oMath>
                </a14:m>
                <a:r>
                  <a:rPr/>
                  <a:t>) – consolidation - </a:t>
                </a:r>
                <a:r>
                  <a:rPr>
                    <a:hlinkClick r:id="rId3"/>
                  </a:rPr>
                  <a:t>cycle 4</a:t>
                </a:r>
                <a:r>
                  <a:rPr/>
                  <a:t> – approfondissements</a:t>
                </a:r>
              </a:p>
              <a:p>
                <a:pPr lvl="0" marL="0" indent="0">
                  <a:buNone/>
                </a:pPr>
                <a:r>
                  <a:rPr>
                    <a:hlinkClick r:id="rId4"/>
                  </a:rPr>
                  <a:t>Lycée général et technologique</a:t>
                </a:r>
              </a:p>
              <a:p>
                <a:pPr lvl="0" marL="0" indent="0">
                  <a:buNone/>
                </a:pPr>
                <a:r>
                  <a:rPr/>
                  <a:t>Formation professionnalisante donc équilibre entre:</a:t>
                </a:r>
              </a:p>
              <a:p>
                <a:pPr lvl="1"/>
                <a:r>
                  <a:rPr/>
                  <a:t>besoins du métier</a:t>
                </a:r>
              </a:p>
              <a:p>
                <a:pPr lvl="1"/>
                <a:r>
                  <a:rPr/>
                  <a:t>approche scientifique</a:t>
                </a:r>
              </a:p>
              <a:p>
                <a:pPr lvl="1"/>
                <a:r>
                  <a:rPr/>
                  <a:t>préparation aux concours</a:t>
                </a:r>
              </a:p>
              <a:p>
                <a:pPr lvl="0" marL="0" indent="0">
                  <a:buNone/>
                </a:pPr>
                <a:r>
                  <a:rPr/>
                  <a:t>Formation interdisciplinaire donc équilibre entre:</a:t>
                </a:r>
              </a:p>
              <a:p>
                <a:pPr lvl="1"/>
                <a:r>
                  <a:rPr/>
                  <a:t>s’assurer d’une maîtrise des mathématiques fondamentales</a:t>
                </a:r>
              </a:p>
              <a:p>
                <a:pPr lvl="1"/>
                <a:r>
                  <a:rPr/>
                  <a:t>former à un enseignement des mathématiques qui aident à comprendre le monde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Accéssibilité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Prise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compte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fracture</a:t>
                      </a:r>
                      <a:r>
                        <a:rPr/>
                        <a:t> </a:t>
                      </a:r>
                      <a:r>
                        <a:rPr/>
                        <a:t>numérique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maker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évenements,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pourraient bénéficier d’une collaboration dans Sfere au délà de l’ADEF, par exemple avec l’I2M et l’IREM de Marseille.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du projet 1.3.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2020-05-30T21:19:39Z</dcterms:created>
  <dcterms:modified xsi:type="dcterms:W3CDTF">2020-05-30T21:19:39Z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2020-06-02</vt:lpwstr>
  </property>
  <property fmtid="{D5CDD505-2E9C-101B-9397-08002B2CF9AE}" pid="3" name="header-includes">
    <vt:lpwstr/>
  </property>
</Properties>
</file>